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4e6e77207472a" /><Relationship Type="http://schemas.openxmlformats.org/officeDocument/2006/relationships/extended-properties" Target="/docProps/app.xml" Id="R423d4f6540224ca0" /><Relationship Type="http://schemas.openxmlformats.org/officeDocument/2006/relationships/officeDocument" Target="/ppt/presentation.xml" Id="Rd181454cf588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55b83b5f44d2e"/>
  </p:sldMasterIdLst>
  <p:notesMasterIdLst>
    <p:notesMasterId xmlns:r="http://schemas.openxmlformats.org/officeDocument/2006/relationships" r:id="R5a085cb8dd7a4d8c"/>
  </p:notesMasterIdLst>
  <p:sldIdLst>
    <p:sldId xmlns:r="http://schemas.openxmlformats.org/officeDocument/2006/relationships" id="256" r:id="R9f5d2a4a0b984925"/>
    <p:sldId xmlns:r="http://schemas.openxmlformats.org/officeDocument/2006/relationships" id="257" r:id="R3a0057dd09fa4da0"/>
    <p:sldId xmlns:r="http://schemas.openxmlformats.org/officeDocument/2006/relationships" id="258" r:id="R8ea5196f40f44477"/>
    <p:sldId xmlns:r="http://schemas.openxmlformats.org/officeDocument/2006/relationships" id="259" r:id="R8bef5292a7ff40f7"/>
    <p:sldId xmlns:r="http://schemas.openxmlformats.org/officeDocument/2006/relationships" id="260" r:id="Re9e8700b9ad64092"/>
    <p:sldId xmlns:r="http://schemas.openxmlformats.org/officeDocument/2006/relationships" id="261" r:id="Rea221bb2130442c5"/>
    <p:sldId xmlns:r="http://schemas.openxmlformats.org/officeDocument/2006/relationships" id="262" r:id="R6f6cff6cf7fa4e67"/>
    <p:sldId xmlns:r="http://schemas.openxmlformats.org/officeDocument/2006/relationships" id="263" r:id="R592fdf809de247a4"/>
    <p:sldId xmlns:r="http://schemas.openxmlformats.org/officeDocument/2006/relationships" id="264" r:id="Rb33b6ef5260f4e28"/>
    <p:sldId xmlns:r="http://schemas.openxmlformats.org/officeDocument/2006/relationships" id="265" r:id="Rc0d83d5cbe104a96"/>
    <p:sldId xmlns:r="http://schemas.openxmlformats.org/officeDocument/2006/relationships" id="266" r:id="Ra39239a880e14591"/>
    <p:sldId xmlns:r="http://schemas.openxmlformats.org/officeDocument/2006/relationships" id="267" r:id="R68b65f420e4c4fd8"/>
    <p:sldId xmlns:r="http://schemas.openxmlformats.org/officeDocument/2006/relationships" id="268" r:id="Rd11221dbccff4a31"/>
    <p:sldId xmlns:r="http://schemas.openxmlformats.org/officeDocument/2006/relationships" id="269" r:id="Rcdb7a3f3c7994554"/>
    <p:sldId xmlns:r="http://schemas.openxmlformats.org/officeDocument/2006/relationships" id="270" r:id="R427887652cda4075"/>
    <p:sldId xmlns:r="http://schemas.openxmlformats.org/officeDocument/2006/relationships" id="271" r:id="Rc1a0bdc79ea54e70"/>
    <p:sldId xmlns:r="http://schemas.openxmlformats.org/officeDocument/2006/relationships" id="272" r:id="Rf88dcae21b4f42e3"/>
    <p:sldId xmlns:r="http://schemas.openxmlformats.org/officeDocument/2006/relationships" id="273" r:id="Rca7f68ba00454c18"/>
    <p:sldId xmlns:r="http://schemas.openxmlformats.org/officeDocument/2006/relationships" id="274" r:id="R99867b4a7cb84de9"/>
    <p:sldId xmlns:r="http://schemas.openxmlformats.org/officeDocument/2006/relationships" id="275" r:id="R0a95e7114a814d73"/>
    <p:sldId xmlns:r="http://schemas.openxmlformats.org/officeDocument/2006/relationships" id="276" r:id="R7344714a73ab41c0"/>
    <p:sldId xmlns:r="http://schemas.openxmlformats.org/officeDocument/2006/relationships" id="277" r:id="Recf14ec3d3754076"/>
    <p:sldId xmlns:r="http://schemas.openxmlformats.org/officeDocument/2006/relationships" id="278" r:id="R0547521b82114d05"/>
    <p:sldId xmlns:r="http://schemas.openxmlformats.org/officeDocument/2006/relationships" id="279" r:id="R083f5dc91bd048e4"/>
    <p:sldId xmlns:r="http://schemas.openxmlformats.org/officeDocument/2006/relationships" id="280" r:id="Rd7042bc9d3cc452a"/>
    <p:sldId xmlns:r="http://schemas.openxmlformats.org/officeDocument/2006/relationships" id="281" r:id="Rc0acd0933f784880"/>
    <p:sldId xmlns:r="http://schemas.openxmlformats.org/officeDocument/2006/relationships" id="282" r:id="R44f995ea7c4d43ac"/>
    <p:sldId xmlns:r="http://schemas.openxmlformats.org/officeDocument/2006/relationships" id="283" r:id="Rc7aa26f5e1124d59"/>
    <p:sldId xmlns:r="http://schemas.openxmlformats.org/officeDocument/2006/relationships" id="284" r:id="R006b03179ea74bce"/>
    <p:sldId xmlns:r="http://schemas.openxmlformats.org/officeDocument/2006/relationships" id="285" r:id="Rdd743947fbf94d78"/>
    <p:sldId xmlns:r="http://schemas.openxmlformats.org/officeDocument/2006/relationships" id="286" r:id="Rca9caa358c564e55"/>
    <p:sldId xmlns:r="http://schemas.openxmlformats.org/officeDocument/2006/relationships" id="287" r:id="R7cb8249c080647f0"/>
    <p:sldId xmlns:r="http://schemas.openxmlformats.org/officeDocument/2006/relationships" id="288" r:id="R0fac675377cc440b"/>
    <p:sldId xmlns:r="http://schemas.openxmlformats.org/officeDocument/2006/relationships" id="289" r:id="R71952ba41014410c"/>
    <p:sldId xmlns:r="http://schemas.openxmlformats.org/officeDocument/2006/relationships" id="290" r:id="R3c52642046f4478f"/>
    <p:sldId xmlns:r="http://schemas.openxmlformats.org/officeDocument/2006/relationships" id="291" r:id="Rb4d903150b914833"/>
    <p:sldId xmlns:r="http://schemas.openxmlformats.org/officeDocument/2006/relationships" id="292" r:id="R88f50a1e38ad422f"/>
    <p:sldId xmlns:r="http://schemas.openxmlformats.org/officeDocument/2006/relationships" id="293" r:id="Rc06a4477d2f54f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7fb372b844429" /><Relationship Type="http://schemas.openxmlformats.org/officeDocument/2006/relationships/slideMaster" Target="/ppt/slideMasters/slideMaster1.xml" Id="Rd4355b83b5f44d2e" /><Relationship Type="http://schemas.openxmlformats.org/officeDocument/2006/relationships/notesMaster" Target="/ppt/notesMasters/notesMaster1.xml" Id="R5a085cb8dd7a4d8c" /><Relationship Type="http://schemas.openxmlformats.org/officeDocument/2006/relationships/presProps" Target="/ppt/presProps.xml" Id="R28b5c1d99a914085" /><Relationship Type="http://schemas.openxmlformats.org/officeDocument/2006/relationships/tableStyles" Target="/ppt/tableStyles.xml" Id="R40d116f7956b47db" /><Relationship Type="http://schemas.openxmlformats.org/officeDocument/2006/relationships/slide" Target="/ppt/slides/slide1.xml" Id="R9f5d2a4a0b984925" /><Relationship Type="http://schemas.openxmlformats.org/officeDocument/2006/relationships/slide" Target="/ppt/slides/slide2.xml" Id="R3a0057dd09fa4da0" /><Relationship Type="http://schemas.openxmlformats.org/officeDocument/2006/relationships/slide" Target="/ppt/slides/slide3.xml" Id="R8ea5196f40f44477" /><Relationship Type="http://schemas.openxmlformats.org/officeDocument/2006/relationships/slide" Target="/ppt/slides/slide4.xml" Id="R8bef5292a7ff40f7" /><Relationship Type="http://schemas.openxmlformats.org/officeDocument/2006/relationships/slide" Target="/ppt/slides/slide5.xml" Id="Re9e8700b9ad64092" /><Relationship Type="http://schemas.openxmlformats.org/officeDocument/2006/relationships/slide" Target="/ppt/slides/slide6.xml" Id="Rea221bb2130442c5" /><Relationship Type="http://schemas.openxmlformats.org/officeDocument/2006/relationships/slide" Target="/ppt/slides/slide7.xml" Id="R6f6cff6cf7fa4e67" /><Relationship Type="http://schemas.openxmlformats.org/officeDocument/2006/relationships/slide" Target="/ppt/slides/slide8.xml" Id="R592fdf809de247a4" /><Relationship Type="http://schemas.openxmlformats.org/officeDocument/2006/relationships/slide" Target="/ppt/slides/slide9.xml" Id="Rb33b6ef5260f4e28" /><Relationship Type="http://schemas.openxmlformats.org/officeDocument/2006/relationships/slide" Target="/ppt/slides/slide10.xml" Id="Rc0d83d5cbe104a96" /><Relationship Type="http://schemas.openxmlformats.org/officeDocument/2006/relationships/slide" Target="/ppt/slides/slide11.xml" Id="Ra39239a880e14591" /><Relationship Type="http://schemas.openxmlformats.org/officeDocument/2006/relationships/slide" Target="/ppt/slides/slide12.xml" Id="R68b65f420e4c4fd8" /><Relationship Type="http://schemas.openxmlformats.org/officeDocument/2006/relationships/slide" Target="/ppt/slides/slide13.xml" Id="Rd11221dbccff4a31" /><Relationship Type="http://schemas.openxmlformats.org/officeDocument/2006/relationships/slide" Target="/ppt/slides/slide14.xml" Id="Rcdb7a3f3c7994554" /><Relationship Type="http://schemas.openxmlformats.org/officeDocument/2006/relationships/slide" Target="/ppt/slides/slide15.xml" Id="R427887652cda4075" /><Relationship Type="http://schemas.openxmlformats.org/officeDocument/2006/relationships/slide" Target="/ppt/slides/slide16.xml" Id="Rc1a0bdc79ea54e70" /><Relationship Type="http://schemas.openxmlformats.org/officeDocument/2006/relationships/slide" Target="/ppt/slides/slide17.xml" Id="Rf88dcae21b4f42e3" /><Relationship Type="http://schemas.openxmlformats.org/officeDocument/2006/relationships/slide" Target="/ppt/slides/slide18.xml" Id="Rca7f68ba00454c18" /><Relationship Type="http://schemas.openxmlformats.org/officeDocument/2006/relationships/slide" Target="/ppt/slides/slide19.xml" Id="R99867b4a7cb84de9" /><Relationship Type="http://schemas.openxmlformats.org/officeDocument/2006/relationships/slide" Target="/ppt/slides/slide20.xml" Id="R0a95e7114a814d73" /><Relationship Type="http://schemas.openxmlformats.org/officeDocument/2006/relationships/slide" Target="/ppt/slides/slide21.xml" Id="R7344714a73ab41c0" /><Relationship Type="http://schemas.openxmlformats.org/officeDocument/2006/relationships/slide" Target="/ppt/slides/slide22.xml" Id="Recf14ec3d3754076" /><Relationship Type="http://schemas.openxmlformats.org/officeDocument/2006/relationships/slide" Target="/ppt/slides/slide23.xml" Id="R0547521b82114d05" /><Relationship Type="http://schemas.openxmlformats.org/officeDocument/2006/relationships/slide" Target="/ppt/slides/slide24.xml" Id="R083f5dc91bd048e4" /><Relationship Type="http://schemas.openxmlformats.org/officeDocument/2006/relationships/slide" Target="/ppt/slides/slide25.xml" Id="Rd7042bc9d3cc452a" /><Relationship Type="http://schemas.openxmlformats.org/officeDocument/2006/relationships/slide" Target="/ppt/slides/slide26.xml" Id="Rc0acd0933f784880" /><Relationship Type="http://schemas.openxmlformats.org/officeDocument/2006/relationships/slide" Target="/ppt/slides/slide27.xml" Id="R44f995ea7c4d43ac" /><Relationship Type="http://schemas.openxmlformats.org/officeDocument/2006/relationships/slide" Target="/ppt/slides/slide28.xml" Id="Rc7aa26f5e1124d59" /><Relationship Type="http://schemas.openxmlformats.org/officeDocument/2006/relationships/slide" Target="/ppt/slides/slide29.xml" Id="R006b03179ea74bce" /><Relationship Type="http://schemas.openxmlformats.org/officeDocument/2006/relationships/slide" Target="/ppt/slides/slide30.xml" Id="Rdd743947fbf94d78" /><Relationship Type="http://schemas.openxmlformats.org/officeDocument/2006/relationships/slide" Target="/ppt/slides/slide31.xml" Id="Rca9caa358c564e55" /><Relationship Type="http://schemas.openxmlformats.org/officeDocument/2006/relationships/slide" Target="/ppt/slides/slide32.xml" Id="R7cb8249c080647f0" /><Relationship Type="http://schemas.openxmlformats.org/officeDocument/2006/relationships/slide" Target="/ppt/slides/slide33.xml" Id="R0fac675377cc440b" /><Relationship Type="http://schemas.openxmlformats.org/officeDocument/2006/relationships/slide" Target="/ppt/slides/slide34.xml" Id="R71952ba41014410c" /><Relationship Type="http://schemas.openxmlformats.org/officeDocument/2006/relationships/slide" Target="/ppt/slides/slide35.xml" Id="R3c52642046f4478f" /><Relationship Type="http://schemas.openxmlformats.org/officeDocument/2006/relationships/slide" Target="/ppt/slides/slide36.xml" Id="Rb4d903150b914833" /><Relationship Type="http://schemas.openxmlformats.org/officeDocument/2006/relationships/slide" Target="/ppt/slides/slide37.xml" Id="R88f50a1e38ad422f" /><Relationship Type="http://schemas.openxmlformats.org/officeDocument/2006/relationships/slide" Target="/ppt/slides/slide38.xml" Id="Rc06a4477d2f54f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af6f1b610c45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f4c242eb745fb" /><Relationship Type="http://schemas.openxmlformats.org/officeDocument/2006/relationships/notesMaster" Target="/ppt/notesMasters/notesMaster1.xml" Id="R7d33009538854d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9da368b3d4d7f" /><Relationship Type="http://schemas.openxmlformats.org/officeDocument/2006/relationships/notesMaster" Target="/ppt/notesMasters/notesMaster1.xml" Id="Rbe06dcd90d36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ad4635a794ea1" /><Relationship Type="http://schemas.openxmlformats.org/officeDocument/2006/relationships/notesMaster" Target="/ppt/notesMasters/notesMaster1.xml" Id="R5bf0c5304e6d4b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a06eed2c7f45a9" /><Relationship Type="http://schemas.openxmlformats.org/officeDocument/2006/relationships/notesMaster" Target="/ppt/notesMasters/notesMaster1.xml" Id="R11c65b5cd591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db2c4f5c1d4d5a" /><Relationship Type="http://schemas.openxmlformats.org/officeDocument/2006/relationships/notesMaster" Target="/ppt/notesMasters/notesMaster1.xml" Id="R78237b0b317642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7d3741e19242b8" /><Relationship Type="http://schemas.openxmlformats.org/officeDocument/2006/relationships/notesMaster" Target="/ppt/notesMasters/notesMaster1.xml" Id="Rcaceef40fe1243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d4fb5b5c5547fd" /><Relationship Type="http://schemas.openxmlformats.org/officeDocument/2006/relationships/notesMaster" Target="/ppt/notesMasters/notesMaster1.xml" Id="Rfe06c68b439b48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53882e7b0f470d" /><Relationship Type="http://schemas.openxmlformats.org/officeDocument/2006/relationships/notesMaster" Target="/ppt/notesMasters/notesMaster1.xml" Id="R1e87ad3c037c45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8a107e9bbe4dad" /><Relationship Type="http://schemas.openxmlformats.org/officeDocument/2006/relationships/notesMaster" Target="/ppt/notesMasters/notesMaster1.xml" Id="R204dfc6de7cf4d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f264d011ec49dc" /><Relationship Type="http://schemas.openxmlformats.org/officeDocument/2006/relationships/notesMaster" Target="/ppt/notesMasters/notesMaster1.xml" Id="Rfbe7636881a542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e20e077bab4a7f" /><Relationship Type="http://schemas.openxmlformats.org/officeDocument/2006/relationships/notesMaster" Target="/ppt/notesMasters/notesMaster1.xml" Id="R73b0e5b4038045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d52f9a9edd4c3b" /><Relationship Type="http://schemas.openxmlformats.org/officeDocument/2006/relationships/notesMaster" Target="/ppt/notesMasters/notesMaster1.xml" Id="R4a32287ac67143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fcc1c5c85d4d39" /><Relationship Type="http://schemas.openxmlformats.org/officeDocument/2006/relationships/notesMaster" Target="/ppt/notesMasters/notesMaster1.xml" Id="Rfac0d33778b446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23ade00699407b" /><Relationship Type="http://schemas.openxmlformats.org/officeDocument/2006/relationships/notesMaster" Target="/ppt/notesMasters/notesMaster1.xml" Id="R18f44426c7a746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6c6a67e1bb4ee6" /><Relationship Type="http://schemas.openxmlformats.org/officeDocument/2006/relationships/notesMaster" Target="/ppt/notesMasters/notesMaster1.xml" Id="Rd5e3a619ebd441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53601b57239401e" /><Relationship Type="http://schemas.openxmlformats.org/officeDocument/2006/relationships/notesMaster" Target="/ppt/notesMasters/notesMaster1.xml" Id="R4c04eda3f9a445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b03838aba14036" /><Relationship Type="http://schemas.openxmlformats.org/officeDocument/2006/relationships/notesMaster" Target="/ppt/notesMasters/notesMaster1.xml" Id="Rcefbbc8e1ba54e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48965d17b4483e" /><Relationship Type="http://schemas.openxmlformats.org/officeDocument/2006/relationships/notesMaster" Target="/ppt/notesMasters/notesMaster1.xml" Id="R074089eb28fd4c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c991fcef394e56" /><Relationship Type="http://schemas.openxmlformats.org/officeDocument/2006/relationships/notesMaster" Target="/ppt/notesMasters/notesMaster1.xml" Id="R0b7e103e35494e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2059f01e34247d7" /><Relationship Type="http://schemas.openxmlformats.org/officeDocument/2006/relationships/notesMaster" Target="/ppt/notesMasters/notesMaster1.xml" Id="R2d7d2e6f621142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4a6094bdab433f" /><Relationship Type="http://schemas.openxmlformats.org/officeDocument/2006/relationships/notesMaster" Target="/ppt/notesMasters/notesMaster1.xml" Id="R6c00ee27f9d7457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9958439ab44991" /><Relationship Type="http://schemas.openxmlformats.org/officeDocument/2006/relationships/notesMaster" Target="/ppt/notesMasters/notesMaster1.xml" Id="R9f845f65194c4b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cc8bec9af94c33" /><Relationship Type="http://schemas.openxmlformats.org/officeDocument/2006/relationships/notesMaster" Target="/ppt/notesMasters/notesMaster1.xml" Id="Reaf8145313284f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7f080279964ec9" /><Relationship Type="http://schemas.openxmlformats.org/officeDocument/2006/relationships/notesMaster" Target="/ppt/notesMasters/notesMaster1.xml" Id="R44ceb53eadbb49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df599c8bf6486f" /><Relationship Type="http://schemas.openxmlformats.org/officeDocument/2006/relationships/notesMaster" Target="/ppt/notesMasters/notesMaster1.xml" Id="R9e3bb66647d649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790c780cf64259" /><Relationship Type="http://schemas.openxmlformats.org/officeDocument/2006/relationships/notesMaster" Target="/ppt/notesMasters/notesMaster1.xml" Id="R2718a4ede23249d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852e1826564103" /><Relationship Type="http://schemas.openxmlformats.org/officeDocument/2006/relationships/notesMaster" Target="/ppt/notesMasters/notesMaster1.xml" Id="Rbba505f739b24f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97103e47244e6f" /><Relationship Type="http://schemas.openxmlformats.org/officeDocument/2006/relationships/notesMaster" Target="/ppt/notesMasters/notesMaster1.xml" Id="R458a7c0d18254ae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0f7c97a36504aa8" /><Relationship Type="http://schemas.openxmlformats.org/officeDocument/2006/relationships/notesMaster" Target="/ppt/notesMasters/notesMaster1.xml" Id="R080553719afd42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4e7c4f02904670" /><Relationship Type="http://schemas.openxmlformats.org/officeDocument/2006/relationships/notesMaster" Target="/ppt/notesMasters/notesMaster1.xml" Id="Re81a679595b7428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c005f6c46cb4b54" /><Relationship Type="http://schemas.openxmlformats.org/officeDocument/2006/relationships/notesMaster" Target="/ppt/notesMasters/notesMaster1.xml" Id="R6897c232e08043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484b8f357e2442d" /><Relationship Type="http://schemas.openxmlformats.org/officeDocument/2006/relationships/notesMaster" Target="/ppt/notesMasters/notesMaster1.xml" Id="R3018f5e6e80746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d07b591e7b4ed9" /><Relationship Type="http://schemas.openxmlformats.org/officeDocument/2006/relationships/notesMaster" Target="/ppt/notesMasters/notesMaster1.xml" Id="Rab4920cffec74e6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e739dc72d04473" /><Relationship Type="http://schemas.openxmlformats.org/officeDocument/2006/relationships/notesMaster" Target="/ppt/notesMasters/notesMaster1.xml" Id="R258e771ab3c5418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efb58a805a84149" /><Relationship Type="http://schemas.openxmlformats.org/officeDocument/2006/relationships/notesMaster" Target="/ppt/notesMasters/notesMaster1.xml" Id="Rbd07b340b2f4450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4d8ea4102044c9f" /><Relationship Type="http://schemas.openxmlformats.org/officeDocument/2006/relationships/notesMaster" Target="/ppt/notesMasters/notesMaster1.xml" Id="R923990ed8ac24b6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a466479e34d4d54" /><Relationship Type="http://schemas.openxmlformats.org/officeDocument/2006/relationships/notesMaster" Target="/ppt/notesMasters/notesMaster1.xml" Id="R63bb9729174949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bcbe3f6956a4aa2" /><Relationship Type="http://schemas.openxmlformats.org/officeDocument/2006/relationships/notesMaster" Target="/ppt/notesMasters/notesMaster1.xml" Id="Ra95b798c54ea4c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本簡報用於企劃、設計與開發共同確認。對外品牌統一為 AI Personality｜AI 人格誌。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C:/Users/waiti/Mentor/assets/aieq/animals/swiss-modernist/aieq-16-contact-sheet.png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用一句話對齊產品邊界：快篩與內容體驗，不是能力分級。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本次使用者需求與既有產品決策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C:/Users/waiti/Mentor/tmp/ai_personality_deck/plan.txt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C:/Users/waiti/Mentor/tmp/ai_personality_deck/plan.txt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題意與權重沿用七題 v3.0；選項位置重新排序，文案做等義六字化。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這一頁定義反慣性排列的技術前提。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清晰度是分數距離，不是心理測驗準確率。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本頁將原簡報的分布限制轉成上線後的可驗證工作。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C:/Users/waiti/Mentor/OneDrive/Desktop/ai_personality_quiz.pptx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既有 LINE LIFF 與 pending connection 產品決策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C:/Users/waiti/Mentor/assets/aieq/animals/swiss-modernist/istj-beaver.png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C:/Users/waiti/Mentor/assets/aieq/animals/swiss-modernist/isfj-penguin.png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C:/Users/waiti/Mentor/assets/aieq/animals/swiss-modernist/infj-elephant.png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C:/Users/waiti/Mentor/assets/aieq/animals/swiss-modernist/intj-owl.png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C:/Users/waiti/Mentor/assets/aieq/animals/swiss-modernist/istp-cat.png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C:/Users/waiti/Mentor/assets/aieq/animals/swiss-modernist/isfp-red-panda.png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C:/Users/waiti/Mentor/assets/aieq/animals/swiss-modernist/infp-deer.png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C:/Users/waiti/Mentor/assets/aieq/animals/swiss-modernist/intp-octopus.png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C:/Users/waiti/Mentor/assets/aieq/animals/swiss-modernist/estp-cheetah.png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C:/Users/waiti/Mentor/assets/aieq/animals/swiss-modernist/esfp-parrot.png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C:/Users/waiti/Mentor/assets/aieq/animals/swiss-modernist/enfp-otter.png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C:/Users/waiti/Mentor/assets/aieq/animals/swiss-modernist/entp-crow.png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C:/Users/waiti/Mentor/assets/aieq/animals/swiss-modernist/estj-sheepdog.png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C:/Users/waiti/Mentor/assets/aieq/animals/swiss-modernist/esfj-bee.png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C:/Users/waiti/Mentor/assets/aieq/animals/swiss-modernist/enfj-dolphin.png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C:/Users/waiti/Mentor/packages/backend/src/modules/aieq/catalog.ts</a:t>
            </a:r>
          </a:p>
          <a:p xmlns:a="http://schemas.openxmlformats.org/drawingml/2006/main">
            <a:r>
              <a:t>- C:/Users/waiti/Mentor/assets/aieq/animals/swiss-modernist/entj-orca.png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本次整合規格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bd80fce6440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cc56ac75844d3" /><Relationship Type="http://schemas.openxmlformats.org/officeDocument/2006/relationships/slideLayout" Target="/ppt/slideLayouts/slideLayout1.xml" Id="Ra63b17f5b0bc45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3b17f5b0bc45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63dba82e4e84" /><Relationship Type="http://schemas.openxmlformats.org/officeDocument/2006/relationships/image" Target="/ppt/media/image.png" Id="R7188de2f504246b7" /><Relationship Type="http://schemas.openxmlformats.org/officeDocument/2006/relationships/notesSlide" Target="/ppt/notesSlides/notesSlide1.xml" Id="R2c8388d6bf51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d438b68d44b5" /><Relationship Type="http://schemas.openxmlformats.org/officeDocument/2006/relationships/notesSlide" Target="/ppt/notesSlides/notesSlide2.xml" Id="R88905a9b078e47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942c02dbf4ba5" /><Relationship Type="http://schemas.openxmlformats.org/officeDocument/2006/relationships/notesSlide" Target="/ppt/notesSlides/notesSlide3.xml" Id="R9925b245c43c4c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086b4233049ca" /><Relationship Type="http://schemas.openxmlformats.org/officeDocument/2006/relationships/notesSlide" Target="/ppt/notesSlides/notesSlide4.xml" Id="R3dd6ed5c7911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2d0cb9ddd4521" /><Relationship Type="http://schemas.openxmlformats.org/officeDocument/2006/relationships/notesSlide" Target="/ppt/notesSlides/notesSlide5.xml" Id="Rca79b20b8d16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92bd66aaa4eaa" /><Relationship Type="http://schemas.openxmlformats.org/officeDocument/2006/relationships/notesSlide" Target="/ppt/notesSlides/notesSlide6.xml" Id="Ra88f659c7638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3ff114b00445c" /><Relationship Type="http://schemas.openxmlformats.org/officeDocument/2006/relationships/notesSlide" Target="/ppt/notesSlides/notesSlide7.xml" Id="Rdeb3f0deac474a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ea2caa2324b25" /><Relationship Type="http://schemas.openxmlformats.org/officeDocument/2006/relationships/notesSlide" Target="/ppt/notesSlides/notesSlide8.xml" Id="R779134d13dcd48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7a3097df84285" /><Relationship Type="http://schemas.openxmlformats.org/officeDocument/2006/relationships/notesSlide" Target="/ppt/notesSlides/notesSlide9.xml" Id="Rcb6f838cbd384b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7cd8e68e74844" /><Relationship Type="http://schemas.openxmlformats.org/officeDocument/2006/relationships/notesSlide" Target="/ppt/notesSlides/notesSlide10.xml" Id="R3210950406d24a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a9cda20994f56" /><Relationship Type="http://schemas.openxmlformats.org/officeDocument/2006/relationships/notesSlide" Target="/ppt/notesSlides/notesSlide11.xml" Id="Re14b368fb428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770920db94643" /><Relationship Type="http://schemas.openxmlformats.org/officeDocument/2006/relationships/notesSlide" Target="/ppt/notesSlides/notesSlide12.xml" Id="R58470b620b7e4c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be234a8824911" /><Relationship Type="http://schemas.openxmlformats.org/officeDocument/2006/relationships/notesSlide" Target="/ppt/notesSlides/notesSlide13.xml" Id="R8d5ce8e4f866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0af409efd4a49" /><Relationship Type="http://schemas.openxmlformats.org/officeDocument/2006/relationships/notesSlide" Target="/ppt/notesSlides/notesSlide14.xml" Id="R1a18f3e1205e48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d9cf877544118" /><Relationship Type="http://schemas.openxmlformats.org/officeDocument/2006/relationships/notesSlide" Target="/ppt/notesSlides/notesSlide15.xml" Id="R5625e74bdc044c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5626a13c4445d" /><Relationship Type="http://schemas.openxmlformats.org/officeDocument/2006/relationships/notesSlide" Target="/ppt/notesSlides/notesSlide16.xml" Id="Rc0ee58d3f66a4c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3e77f6024d6b" /><Relationship Type="http://schemas.openxmlformats.org/officeDocument/2006/relationships/notesSlide" Target="/ppt/notesSlides/notesSlide17.xml" Id="Rf40cc5c04ba444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0ef171cf74d7f" /><Relationship Type="http://schemas.openxmlformats.org/officeDocument/2006/relationships/notesSlide" Target="/ppt/notesSlides/notesSlide18.xml" Id="R7bd96577d9604b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595960e184d36" /><Relationship Type="http://schemas.openxmlformats.org/officeDocument/2006/relationships/notesSlide" Target="/ppt/notesSlides/notesSlide19.xml" Id="R8ca0e743cc834d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f693e85a5463b" /><Relationship Type="http://schemas.openxmlformats.org/officeDocument/2006/relationships/image" Target="/ppt/media/image2.png" Id="R301414d686964f71" /><Relationship Type="http://schemas.openxmlformats.org/officeDocument/2006/relationships/notesSlide" Target="/ppt/notesSlides/notesSlide20.xml" Id="R2cea1ef1eeeb45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5353886484968" /><Relationship Type="http://schemas.openxmlformats.org/officeDocument/2006/relationships/image" Target="/ppt/media/image3.png" Id="R87f3c7c627f8487a" /><Relationship Type="http://schemas.openxmlformats.org/officeDocument/2006/relationships/notesSlide" Target="/ppt/notesSlides/notesSlide21.xml" Id="Rddc4601fc4ef44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d513debba4768" /><Relationship Type="http://schemas.openxmlformats.org/officeDocument/2006/relationships/image" Target="/ppt/media/image4.png" Id="Rc321adf642574131" /><Relationship Type="http://schemas.openxmlformats.org/officeDocument/2006/relationships/notesSlide" Target="/ppt/notesSlides/notesSlide22.xml" Id="Rb4ef2596b4ed4d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076722ddd44ba" /><Relationship Type="http://schemas.openxmlformats.org/officeDocument/2006/relationships/image" Target="/ppt/media/image5.png" Id="R260c2b2499d94132" /><Relationship Type="http://schemas.openxmlformats.org/officeDocument/2006/relationships/notesSlide" Target="/ppt/notesSlides/notesSlide23.xml" Id="Rb4b6435bacd344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26635a2c4d8d" /><Relationship Type="http://schemas.openxmlformats.org/officeDocument/2006/relationships/image" Target="/ppt/media/image6.png" Id="R48fc200ce51349eb" /><Relationship Type="http://schemas.openxmlformats.org/officeDocument/2006/relationships/notesSlide" Target="/ppt/notesSlides/notesSlide24.xml" Id="R09c3612aa1064f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ccaa415cb49a2" /><Relationship Type="http://schemas.openxmlformats.org/officeDocument/2006/relationships/image" Target="/ppt/media/image7.png" Id="R95b2114f43554eab" /><Relationship Type="http://schemas.openxmlformats.org/officeDocument/2006/relationships/notesSlide" Target="/ppt/notesSlides/notesSlide25.xml" Id="R9183b0d1fc8345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1f4ca5436487d" /><Relationship Type="http://schemas.openxmlformats.org/officeDocument/2006/relationships/image" Target="/ppt/media/image8.png" Id="R2e719c56a91243bb" /><Relationship Type="http://schemas.openxmlformats.org/officeDocument/2006/relationships/notesSlide" Target="/ppt/notesSlides/notesSlide26.xml" Id="R921ace83ce094a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d2f59b0074097" /><Relationship Type="http://schemas.openxmlformats.org/officeDocument/2006/relationships/image" Target="/ppt/media/image9.png" Id="Rb9c537ea9d1d4cf6" /><Relationship Type="http://schemas.openxmlformats.org/officeDocument/2006/relationships/notesSlide" Target="/ppt/notesSlides/notesSlide27.xml" Id="R1cc4817fc0c1400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5464484904dd1" /><Relationship Type="http://schemas.openxmlformats.org/officeDocument/2006/relationships/image" Target="/ppt/media/image10.png" Id="R9d1af6180369448a" /><Relationship Type="http://schemas.openxmlformats.org/officeDocument/2006/relationships/notesSlide" Target="/ppt/notesSlides/notesSlide28.xml" Id="R6f52f64ccebe4b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70974476f48cb" /><Relationship Type="http://schemas.openxmlformats.org/officeDocument/2006/relationships/image" Target="/ppt/media/image11.png" Id="Re3bfd6b008d44b2a" /><Relationship Type="http://schemas.openxmlformats.org/officeDocument/2006/relationships/notesSlide" Target="/ppt/notesSlides/notesSlide29.xml" Id="Rc3b7cbcd60b74bc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dff85b7dd4946" /><Relationship Type="http://schemas.openxmlformats.org/officeDocument/2006/relationships/image" Target="/ppt/media/image12.png" Id="R4f34fac215fa4259" /><Relationship Type="http://schemas.openxmlformats.org/officeDocument/2006/relationships/notesSlide" Target="/ppt/notesSlides/notesSlide30.xml" Id="R4957c780ff884a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1434704424d5e" /><Relationship Type="http://schemas.openxmlformats.org/officeDocument/2006/relationships/image" Target="/ppt/media/image13.png" Id="Rf13c75c9f0ab49be" /><Relationship Type="http://schemas.openxmlformats.org/officeDocument/2006/relationships/notesSlide" Target="/ppt/notesSlides/notesSlide31.xml" Id="R567c0484028341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b3b09f4e945c6" /><Relationship Type="http://schemas.openxmlformats.org/officeDocument/2006/relationships/image" Target="/ppt/media/image14.png" Id="R81fbde9e80b648ce" /><Relationship Type="http://schemas.openxmlformats.org/officeDocument/2006/relationships/notesSlide" Target="/ppt/notesSlides/notesSlide32.xml" Id="R999d758f1dfc400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4a52a983f42c5" /><Relationship Type="http://schemas.openxmlformats.org/officeDocument/2006/relationships/image" Target="/ppt/media/image15.png" Id="R1a8cb9a0cdbb40dd" /><Relationship Type="http://schemas.openxmlformats.org/officeDocument/2006/relationships/notesSlide" Target="/ppt/notesSlides/notesSlide33.xml" Id="R71cfdcb1a878445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42da6937a4ea6" /><Relationship Type="http://schemas.openxmlformats.org/officeDocument/2006/relationships/image" Target="/ppt/media/image16.png" Id="R0aec99f2330d4716" /><Relationship Type="http://schemas.openxmlformats.org/officeDocument/2006/relationships/notesSlide" Target="/ppt/notesSlides/notesSlide34.xml" Id="Rb1993a7ccd454aa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1605bdc2d4ec6" /><Relationship Type="http://schemas.openxmlformats.org/officeDocument/2006/relationships/image" Target="/ppt/media/image17.png" Id="R0eaaa13a7d1f4d00" /><Relationship Type="http://schemas.openxmlformats.org/officeDocument/2006/relationships/notesSlide" Target="/ppt/notesSlides/notesSlide35.xml" Id="Rabbddbb4b22842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266445fdd480e" /><Relationship Type="http://schemas.openxmlformats.org/officeDocument/2006/relationships/notesSlide" Target="/ppt/notesSlides/notesSlide36.xml" Id="R72a32240975a406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54b48e394d73" /><Relationship Type="http://schemas.openxmlformats.org/officeDocument/2006/relationships/notesSlide" Target="/ppt/notesSlides/notesSlide37.xml" Id="Re09eb95806b242c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7079e2562477e" /><Relationship Type="http://schemas.openxmlformats.org/officeDocument/2006/relationships/notesSlide" Target="/ppt/notesSlides/notesSlide38.xml" Id="Rde50e65cbb394e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EAFED-8756-4EB7-BCB2-7BA3986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FF64-B491-42A8-BE2F-F5F2E74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AI PERSONALITY / PRODUCT 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3F6E4-0EE8-435D-95A2-6594E523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Personality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4BCCC-07CA-40DB-9B1D-C880888A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AI 人格誌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FCDE6-3CDF-4058-BB34-B4E1911F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4D4D8"/>
                </a:solidFill>
              </a:defRPr>
            </a:pPr>
            <a:r>
              <a:rPr sz="1800" b="0">
                <a:solidFill>
                  <a:srgbClr val="D4D4D8"/>
                </a:solidFill>
              </a:rPr>
              <a:t>七題快篩 × 四軸計分 × 16 種動物人格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49B9-57ED-4EEA-9301-578059A0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完整企劃與計算規格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8de2f504246b7"/>
          <a:stretch xmlns:a="http://schemas.openxmlformats.org/drawingml/2006/main"/>
        </p:blipFill>
        <p:spPr>
          <a:xfrm xmlns:a="http://schemas.openxmlformats.org/drawingml/2006/main">
            <a:off x="7239000" y="1362075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07EEF-5593-4E9E-BB56-D2F5981A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91E76-52E0-4CF5-A156-0B05788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522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84735-8E19-4CA1-89D0-4E4AE39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01 / PRODUCT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4D52F-ACC4-4B43-BED7-23E4EC7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2228"/>
                </a:solidFill>
              </a:defRPr>
            </a:pPr>
            <a:r>
              <a:rPr sz="3000" b="1">
                <a:solidFill>
                  <a:srgbClr val="222228"/>
                </a:solidFill>
              </a:rPr>
              <a:t>這不是能力排名，而是一張 AI 使用方式的封面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0F1F6-25F3-4BD6-9B1D-3A66A52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777F"/>
                </a:solidFill>
              </a:defRPr>
            </a:pPr>
            <a:r>
              <a:rPr sz="1650" b="0">
                <a:solidFill>
                  <a:srgbClr val="77777F"/>
                </a:solidFill>
              </a:rPr>
              <a:t>使用者用 60 秒回答七個真實情境；系統推估四組偏好，再轉譯成一種動物人格與一條可執行的成長路線。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B21DA-84D4-49DC-ACD0-8BF01AB0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2506F-C649-410A-9B0B-938B634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E555C-83F5-4BB4-84AE-82396EC3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輸入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B7920-3376-4EB5-93EA-3253527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七題、每題三選一，以直覺作答。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C785C-0230-46FD-9F96-F709E597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67FD5-42E7-4EFE-B071-E9F8BF56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480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運算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7B811-0A6B-4109-AED0-3CBA33D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320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E/I、S/N、T/F、J/P 四軸傾向與清晰度。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423B-DFBD-4D90-9D4B-5476220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EC788-7D7C-46C1-91B6-0476A62F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輸出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0EC08-460F-4C43-BBD6-07FAD75C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0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16 種動物封面、優勢、盲點與下一步。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071A4-88BC-428F-BC7A-565D689F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5C73"/>
                </a:solidFill>
              </a:defRPr>
            </a:pPr>
            <a:r>
              <a:rPr sz="1350" b="1">
                <a:solidFill>
                  <a:srgbClr val="D65C73"/>
                </a:solidFill>
              </a:rPr>
              <a:t>對外說法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A4838-41CF-4A7F-B4C7-8DD44342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8"/>
                </a:solidFill>
              </a:defRPr>
            </a:pPr>
            <a:r>
              <a:rPr sz="1875" b="1">
                <a:solidFill>
                  <a:srgbClr val="222228"/>
                </a:solidFill>
              </a:rPr>
              <a:t>參考四組人格偏好的 AI 情境快篩；非官方 MBTI，也不是心理診斷。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3B1F4-6A65-4EC6-9335-E37D8B5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POSITIONING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1A112-4016-4F9C-9169-36E8A29A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5752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0F44E-35BE-4489-BF1A-82C5671C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02 / DESIGN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F9119-D0D9-4BF4-B326-5C16B0E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七題要像一段自然對話，而不是七次審問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DB67-C05C-416C-BA6A-37EFFF4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9854E-80C7-40CF-95F1-274CDE8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由淺到深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E558F-CA94-424D-9A89-F459266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趨勢態度 → 內容觀察 → 受阻反應 → 學習與工作習慣。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E5354-73FE-4C78-B62B-A9701F1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7C09C-BE2A-42C0-B6C8-D7801F1E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位置不等於分數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E49-FEBF-4A24-82F8-B6A8110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答案位置刻意變化；內部只以 option_id 計分。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FB2E3-5737-4AD2-A990-13B8A65A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D83AB-AF9E-4B40-9170-DF64EBD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同軸交叉驗證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002D0-F400-4103-8210-6D67566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E/I、S/N、T/F 各用兩個不同場景互相校正。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681CF-AB43-46D1-AB77-C1B69C3E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246B5-E838-4B73-8E4D-92460C4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結果附清晰度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D356C-4ABD-4B00-AE3F-6BDE2BF2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沒有平手不代表高準確；每一軸仍需顯示邊界程度。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1CBAD-C626-497F-B246-B4BE212B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固定七題，不在完成後引導立即重測。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9AA27-078D-43FB-B19D-9747D3F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PRINCIPLES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53BAF-B8ED-4CD8-8A7B-4A883F0F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16190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3404D3-868F-4082-9D13-35AB2811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03 / QUESTION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DB694-A2E1-42BC-9551-C4DE46A1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2228"/>
                </a:solidFill>
              </a:defRPr>
            </a:pPr>
            <a:r>
              <a:rPr sz="3000" b="1">
                <a:solidFill>
                  <a:srgbClr val="222228"/>
                </a:solidFill>
              </a:rPr>
              <a:t>從「我怎麼看」走到「我平常怎麼做」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83AF2-825D-4E73-A376-C8E46032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7A939-DE5E-403E-98AC-80CDBFA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A241E-13BB-4469-A927-F66FCEC7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趨勢態度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41023-EDC5-47E5-9E7C-C17C93E5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低壓暖身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63D4A-C43B-4611-ABF0-75AAEF47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0766-2089-4A5E-BBC6-291E4518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3A15-22FA-44C6-98BE-AD24FD5C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文字觀察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79BFD-5F7D-4926-B057-2F70C780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具體判斷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A0CEC-8C34-4583-904C-06C85004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DCA06-DFD4-433B-924D-2C42BC2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4C54D-5638-4A46-8867-47DA367F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圖像觀察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1A4A8-720F-4F66-8279-00022E97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交叉驗證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CCD2A-2624-48B5-A15F-B823525E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61050-BD3A-4C05-A72A-B44104E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FE6B3-B634-4DCE-861B-9325E937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受阻反應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5A82-8852-4AE8-9E59-9E4D223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情緒壓力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41B47-ADE6-43DA-9A38-F5FBC5F0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87457-0A47-4005-82AE-617E23DC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9779D-8B7D-403C-9A3C-6F59E5BD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回饋方式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EF324-703C-46BF-930E-16137040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判斷偏好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262AE-AD91-4041-8E88-BFFD896E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790736-DB69-4564-BCD0-9DBC9701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D5992-B12C-4B4E-982C-BFC40D72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學習行動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9BF0D-85D2-47CA-B7E5-E4FE1E0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真實行為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F93AD-F653-4994-9226-4D718973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02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2F7D"/>
                </a:solidFill>
              </a:defRPr>
            </a:pPr>
            <a:r>
              <a:rPr sz="2850" b="1">
                <a:solidFill>
                  <a:srgbClr val="FF2F7D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B2A15-18B9-48B1-9CD1-A7F6C73E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09797-1A9B-4096-889C-684C4D69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003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工作習慣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7734A-7775-4A2C-9205-DD66CD1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81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F"/>
                </a:solidFill>
              </a:defRPr>
            </a:pPr>
            <a:r>
              <a:rPr sz="1125" b="0">
                <a:solidFill>
                  <a:srgbClr val="77777F"/>
                </a:solidFill>
              </a:rPr>
              <a:t>長期結構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72ADE-58EC-45B0-BB78-C80E44B9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7777F"/>
                </a:solidFill>
              </a:defRPr>
            </a:pPr>
            <a:r>
              <a:rPr sz="1650" b="1">
                <a:solidFill>
                  <a:srgbClr val="77777F"/>
                </a:solidFill>
              </a:rPr>
              <a:t>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C4AEBA-A6AB-4653-95B9-65AD2C5D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BC5AC-F30C-49E7-9D9D-8C2593A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767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0C423-6064-4EA5-AAFA-8665DF8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5097E-9D60-4D19-85F7-CE2982E2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節奏原則：每題只做一個判斷；不顯示維度、權重或動物提示。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D19AB-78A6-4D21-A9EF-FE8D953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QUESTION 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84692F-CA25-44C8-9E21-1556766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2206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3F88E-64A6-49B4-B265-1AA5827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Q1 / 暖身｜態度 / E /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805CC-88B2-494C-B701-BF0B537D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對 AI 趨勢，你第一個反應是？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ECD05-7A14-4703-9BF1-9B0AFDE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E / I　權重 ±0.5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F5C95-7F3A-4373-9DB5-CC7D5E2E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08DDA-EA76-41FA-ABC1-719F99EB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很期待去嘗試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9CB23-2899-438B-8DBC-5B897249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E　+0.5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0CEB2-73AE-422F-B1C2-275856DE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91134-3D4A-4241-9DB2-54128DC8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939A2-A207-4059-A675-AA3261E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順其自然發展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2707C-6DB2-4A45-873F-32300F0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E 弱　+0.125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F804F-ACFD-4441-8BEA-ED0A952D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0C3F1-87A6-4E70-9AA8-EB2C4FE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0D760-EC7E-4EAD-A731-AE67B5C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靜觀其變就好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2A722-EE54-4650-90C1-D0A3103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I　−0.5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2F328-8E4B-428C-A102-7D39138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E65FB-B222-4150-9197-CBE5DCE2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F9F29-6B88-4931-A30F-09B2F6F0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先從低壓、沒有標準答案的態度題開始，降低作答防備。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79D8B-6BC5-4A92-B601-59E8BEF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94A32-4FFC-4D88-9B29-F72B43A8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12227-7567-4773-9760-40111792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2128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7C8BB-FB30-4040-9209-874C14AC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Q2 / 觀察｜文字 / S / 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D5576-212E-4255-9295-38F17EEC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拿到一段 AI 文案，你最先想改什麼？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70C46-8D0E-4BBF-BD8F-84BE1B82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S / N　權重 ±3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80A68-E6B2-450B-B083-4F8AA3FB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755E-5A54-42C7-AA18-54226E8B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換個角度說法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30ECE-CA38-45C4-A75B-FC6FFF5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N　−3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E3DA0-2C71-4947-BA1F-53BDCDD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32EBE-37FD-4B3D-989D-A24BD4D8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FE180-E394-4E98-B05F-ECADE9C1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感覺怪怪而已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4EC97-5C3B-4F0C-8445-05043324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S 弱　+0.75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1C543-CFA0-44C5-B770-9EF16A9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70BB1-E451-47EE-832F-2AFDC04F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705EE-5AC1-4FF5-B034-F6EDAA0C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抓錯字改邏輯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C6000-408C-4648-9916-B9FAA5C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S　+3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52C22-E075-4C60-9D45-324D687E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01033-9D56-40FA-939B-A38D0D88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FC4E5-9F5F-460D-97D2-D49344BF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用具體工作物觀察使用者先修正細節，還是先改變觀點。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FFB1E-1CB1-4707-9A4E-E5CA32A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21A05-CB4A-4127-86B8-67DBDAA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09CF1-D553-4071-BB1A-0C26066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7146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DA7ED-48BD-463D-8B56-BA99A4D2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Q3 / 觀察｜圖像 / S / 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FD6F6-903F-44A4-A784-4499FEDC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看到一張 AI 生成圖，你通常會？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D1B71-A770-479F-AD2A-B18030A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S / N　權重 ±2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CF74E-4156-4000-9CA9-C55A658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BE0D1-4419-48F1-BA0F-E1DE4D6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看完就滑過去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994E7-43E9-4FCF-808A-68094BA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S 弱　+0.5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AB1A8-FB7F-42B3-B8B9-F5998FF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3B690-D371-49AC-9570-1C3CDBEE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9719D-B1EA-4C1A-93A4-D15C8EF9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想像背後故事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F2EE2-2A71-41EF-8F33-49ED905B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N　−2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99F25-AB42-4FC9-9993-D4B8992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FCF34-7C89-4B3C-850E-1BE0F800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F7827-6543-4C7F-98A8-854F06EC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找出圖裡破綻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1A1FA-3BB0-4991-85DA-0C588BA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S　+2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61253-194B-4F42-B396-758AACAE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9ACA2-A34D-4AB8-9A43-AE01138F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1B49A-56F5-4F8B-B5D5-480C856D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換到視覺場景交叉驗證 S/N，避免只靠同一種題材判定。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0D50C-68BA-4DA0-A64D-5AFE00AC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EA835-B3BE-41A5-9F81-622A5F7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B2567-7129-4146-8602-1DAE68B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1308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0552F-605D-445F-B9F0-9A0EF43A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Q4 / 反應｜受阻 / T /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F96BC-C1EA-4CD2-837D-454EECEE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當 AI 說做不到，你通常會？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3A106-972D-4FDD-8B1D-6B633AF8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T / F　權重 ±3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DFD27-91C3-4507-BC4A-9747AC2B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4F02B-CEF1-4EBE-A0D0-206B1E40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覺得有點失落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E9266-6C24-476F-BFBA-6DDD310B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F　−3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4D2B8-444C-4203-A966-7E00AFE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E68D6-8000-4BCD-8929-A31DC477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FD948-BC54-4C2E-8B58-B1FE3127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換個方式再試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83233-AF94-499D-B0AE-CD563CB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T　+3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A60D8-536B-49D9-BBA3-E628B95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F8550-DBB1-4B20-B621-F906592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ED0EE-6981-4AAC-8FC8-88F2DED4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先去做別的事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896C9-2AA0-4D67-83D1-396CF32F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T 弱　+0.75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24BEC-C147-4139-94A2-509E2BFD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86D82-298E-48F5-8B19-DEFD16BA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CA8E2-433A-4486-AA33-4787E4A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進入受阻情境，觀察先處理解法，或先感受挫折與關係。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B01E1-14CE-4613-9B12-17A6791F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DF1F2-BBB6-440F-9C78-69A85E5C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0BA08-061B-4091-8B28-6A3F2DAF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4710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719FE-E9A4-4D8F-B513-042ECE2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Q5 / 判斷｜回饋 / T /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27183-97E1-4D73-9B19-9EF93D7B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看到 AI 做的簡報，你最先說什麼？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51B20-DEFC-427C-AEB3-C2C290D0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T / F　權重 ±2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4861-8001-4EB3-A0E7-6D4BA657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45704-A1DB-4FD2-8649-A48FC45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說還不錯可用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CF7C6-DFDB-465F-992D-150B22F4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T 弱　+0.5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6012B-5F03-4407-A5FE-5FA31662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07D02-2BD7-4ABB-9FDC-3B00A251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2D397-7A59-42F6-8E17-06EF123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說少了點溫度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FD40D-9C6B-49AF-8140-C5556C93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F　−2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3890F-C048-4CB5-8511-8711EE68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F1C13-BCC1-4993-9636-18FF1295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876DA-28B9-475E-982D-62CF9917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指出邏輯錯誤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65302-7D6F-47CA-8B3E-9C61CE61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T　+2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F6D9A-8AFB-440F-8C50-06689ED0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C5810-D3A0-4D05-8441-06E9754B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F06B4-6353-4FD7-8676-7DFF553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從真實回饋語句交叉驗證：先談邏輯、溫度或可用程度。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77F96-F315-4A90-B11B-537C224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C7742-26E8-4154-AE4C-86642536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78146-A866-45EA-97AA-920D73B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1765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68B8D-27B4-4B46-93BD-B9C3B67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Q6 / 行動｜學習 / E /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054BA-19EC-4360-9728-D9CD3A20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學習新的 AI 工具，你通常怎麼開始？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A940E-0CD8-47EC-8489-FB24AF4E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E / I　權重 ±2.5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1C3BF-CD3A-49D7-9523-E8111B8E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8FB47-120B-4FF2-8500-3F00812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自己讀文件試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4396E-6B4D-475E-9477-9AE7BC12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I　−2.5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76620-A37C-4C56-B9D4-AE2B877D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69C42-22FD-4706-8CDF-09BA8671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E24F0-D235-489C-8BAD-00BEA0C9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等別人先用過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645C9-B08F-4A77-B90E-C5CF819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E 弱　+0.25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B645-1C73-4AD4-A90E-2FB52677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90E5E-24B5-4959-A6D1-2B44ABE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FAD72-EAAE-44BA-8EC5-628DFE5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上網問人討論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0938B-61DD-43E5-AE3A-A53219C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E　+2.5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0088C-DD17-465A-A121-66609730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D9C43-597A-400A-83F9-C97C1043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35B15-E294-4DB1-A1B9-A16A434F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從自我描述走向實際行為，讓主要 E/I 訊號出現在後段。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9545E-B66E-4569-B908-F86DBC29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93EAE-1501-4380-B354-8095D2E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AEC55-BF38-47AB-B4FC-3A25498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9237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9BC21-965C-4599-BA50-358A8A8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Q7 / 習慣｜結構 / J / 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C55DD-E736-4E23-86FF-97937F5C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用 AI 協助工作時，你比較習慣？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C5842-886C-43DC-8E73-B09796E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AFB5"/>
                </a:solidFill>
              </a:defRPr>
            </a:pPr>
            <a:r>
              <a:rPr sz="1125" b="0">
                <a:solidFill>
                  <a:srgbClr val="AFAFB5"/>
                </a:solidFill>
              </a:rPr>
              <a:t>主訊號 J / P　權重 ±2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33AAE-59FB-473D-B232-F6AF70F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9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C6325-F25C-4B5C-B8D5-17E75D8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3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當下隨興發問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825A1-2A00-4E55-81C4-8218C3B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P　−2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ADC17-8F32-4968-977E-B4FD8D59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A3DB9-4AF7-4CCF-A80C-0EC23FE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9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2C"/>
                </a:solidFill>
              </a:defRPr>
            </a:pPr>
            <a:r>
              <a:rPr sz="1650" b="1">
                <a:solidFill>
                  <a:srgbClr val="B8FF2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DB1B-4521-4221-AB4D-77D1D7F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想固定卻常忘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F90D9-BFC1-438A-AF43-D2C8239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14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J 弱　+0.5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C0889-4D9B-4E3D-9751-8D93091A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9CBA2-21C5-492B-8FB4-AF9E92F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2F7D"/>
                </a:solidFill>
              </a:defRPr>
            </a:pPr>
            <a:r>
              <a:rPr sz="165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4DBFF-E9E8-43A6-877D-8E114F2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固定模板照跑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FA5B3-51C1-4EB3-B258-5FDDAEFF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C8C8CE"/>
                </a:solidFill>
              </a:defRPr>
            </a:pPr>
            <a:r>
              <a:rPr sz="1500" b="1">
                <a:solidFill>
                  <a:srgbClr val="C8C8CE"/>
                </a:solidFill>
              </a:rPr>
              <a:t>J　+2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07F44-34DE-49F4-A4C1-42BBE63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B03E6-E067-48AF-877D-26ACDFD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3A995-A3DD-4038-86A4-74A40EED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最後才問長期工作習慣；單題只代表暫時偏好，需降低信心。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F30D3-2711-4686-AC97-27DA8E2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19125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7777F"/>
                </a:solidFill>
              </a:defRPr>
            </a:pPr>
            <a:r>
              <a:rPr sz="825" b="0">
                <a:solidFill>
                  <a:srgbClr val="77777F"/>
                </a:solidFill>
              </a:rPr>
              <a:t>企劃規格視圖｜右側分數不對受測者顯示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1FEE2-A742-49C5-B98F-747AE5A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QUESTION SPEC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C9915-5389-4508-92A3-A9CA120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10651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734BE-0443-4AC0-A0C1-2F4FFC8A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04 / SCORING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AD617-953C-4AB9-B0AC-F4F78E8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22228"/>
                </a:solidFill>
              </a:defRPr>
            </a:pPr>
            <a:r>
              <a:rPr sz="3000" b="1">
                <a:solidFill>
                  <a:srgbClr val="222228"/>
                </a:solidFill>
              </a:rPr>
              <a:t>選項位置可以改，計分代碼不能改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AF35-13E0-4CD8-A71B-40A8D73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777F"/>
                </a:solidFill>
              </a:defRPr>
            </a:pPr>
            <a:r>
              <a:rPr sz="1575" b="0">
                <a:solidFill>
                  <a:srgbClr val="77777F"/>
                </a:solidFill>
              </a:rPr>
              <a:t>前端顯示順序與後端 option_id 分離，才能避免慣性回答，又保證相同答案永遠得到相同分數。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21734-7466-4473-8962-50DCF2E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8"/>
                </a:solidFill>
              </a:defRPr>
            </a:pPr>
            <a:r>
              <a:rPr sz="1950" b="1">
                <a:solidFill>
                  <a:srgbClr val="22222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FA8EC-12F7-4E20-A89A-B542FD5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5CD26-8921-4230-B66D-B40E39B1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畫面層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FB9C9-2934-4963-9766-99E4275F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顯示 01／02／03</a:t>
            </a:r>
          </a:p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可固定變化，也可隨機排列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686E4-4C72-4F4E-8529-BE3853BD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8"/>
                </a:solidFill>
              </a:defRPr>
            </a:pPr>
            <a:r>
              <a:rPr sz="1950" b="1">
                <a:solidFill>
                  <a:srgbClr val="22222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C2F95-CBBE-413B-AF26-C8CC1B45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051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F3AD1-20AE-4D39-AED3-B2D6C58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事件層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8CDC7-4E81-45D0-9296-E4270E20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3380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記錄 question_id</a:t>
            </a:r>
          </a:p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option_id、display_order、版本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533F8-C505-49CE-AF9E-F2ED0FFB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8"/>
                </a:solidFill>
              </a:defRPr>
            </a:pPr>
            <a:r>
              <a:rPr sz="1950" b="1">
                <a:solidFill>
                  <a:srgbClr val="22222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3571B-6481-4B28-9613-CFCD4D2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06A01-3E4C-4150-904F-4424741D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計分層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E3557-979A-458A-ABD9-DA1CCB16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option_id 對應四軸分數</a:t>
            </a:r>
          </a:p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不讀按鈕位置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D63FC-9717-49B7-875C-1543C364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2F7D"/>
                </a:solidFill>
              </a:defRPr>
            </a:pPr>
            <a:r>
              <a:rPr sz="1950" b="1">
                <a:solidFill>
                  <a:srgbClr val="FF2F7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D8A1D-8BB6-4B89-9A95-E24AA36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B4DA7-98E9-4E57-809D-A0F1DEC1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結果層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ED7B4-19C1-46B4-90C8-AAC38F24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四字母 → animal_key</a:t>
            </a:r>
          </a:p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再生成 AI 人格誌內容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9A21E-4E0B-4FF3-AC51-B6B366CB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冪等鍵建議：session_id + question_id；重複點擊只保留第一個有效事件。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2E2A69-6565-4277-BB4E-5220AAEF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EVENT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0E6FE-14FC-4901-A851-A14BB75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8514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B065F-9163-4784-978D-EF4D2ECA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05 / FOUR-AXIS FORMULA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287FD-8692-4C8E-BBEE-EE5EC91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四組分數決定類型，正負號決定字母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871C-57E7-40C3-9719-F90155CC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E /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B0520-AEBD-4C4E-8984-D0068548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Q6 + 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1ACD-9E44-43A5-8F13-A3FD009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8BE"/>
                </a:solidFill>
              </a:defRPr>
            </a:pPr>
            <a:r>
              <a:rPr sz="1500" b="0">
                <a:solidFill>
                  <a:srgbClr val="B8B8BE"/>
                </a:solidFill>
              </a:rPr>
              <a:t>−3 ～ +3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C3D08-5ADC-479C-9692-A3C4D5A1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正 E｜負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77B79-19F9-4E24-8DF8-27C5750C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E2FBC-3634-4855-A752-59E2248C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908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S /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DB441-9DF6-4588-A4DF-A9422109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90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Q2 + Q3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C7CB7-B995-422A-8D8C-2CD8B0B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90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8BE"/>
                </a:solidFill>
              </a:defRPr>
            </a:pPr>
            <a:r>
              <a:rPr sz="1500" b="0">
                <a:solidFill>
                  <a:srgbClr val="B8B8BE"/>
                </a:solidFill>
              </a:rPr>
              <a:t>−5 ～ +5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BDA07-47A1-42A6-B3A7-55DFE63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908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正 S｜負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E9E3E-A479-4149-BCDA-AB19070D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113FA-8CA2-4A58-8641-A3A935D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T / 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55C7E-22C1-4681-9E47-F502DA37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29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Q4 +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577EF-40A3-4DBD-8C00-340DAB8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8BE"/>
                </a:solidFill>
              </a:defRPr>
            </a:pPr>
            <a:r>
              <a:rPr sz="1500" b="0">
                <a:solidFill>
                  <a:srgbClr val="B8B8BE"/>
                </a:solidFill>
              </a:rPr>
              <a:t>−5 ～ +5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71107-90C1-4C5E-AC4D-AF35FDA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29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正 T｜負 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2A811-72BB-40D7-8316-EBB75A2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02F4A-0744-437E-A194-4C09DB6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FF2C"/>
                </a:solidFill>
              </a:defRPr>
            </a:pPr>
            <a:r>
              <a:rPr sz="2100" b="1">
                <a:solidFill>
                  <a:srgbClr val="B8FF2C"/>
                </a:solidFill>
              </a:rPr>
              <a:t>J / 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D148F-B6AC-488C-9F58-8BF01CB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67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9FF4E-0846-40BC-B156-F4DF88F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672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8BE"/>
                </a:solidFill>
              </a:defRPr>
            </a:pPr>
            <a:r>
              <a:rPr sz="1500" b="0">
                <a:solidFill>
                  <a:srgbClr val="B8B8BE"/>
                </a:solidFill>
              </a:rPr>
              <a:t>−2 ～ +2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01804-2065-47C3-A465-92645CF1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672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正 J｜負 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01667-2F30-4B67-8841-F7141F1F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E49EB-C54D-4DC6-97C2-67E6D7A7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字母順序固定：E/I → S/N → T/F → J/P，例如 ENFP。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BCF13-8CDE-4F0C-83C0-D5D7D793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94966-BBE6-4685-9069-BE0FD625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385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5DCA4-503A-4DE9-AE25-37E8C08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06 / CLARITY, NOT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F844C-BCD3-483F-B25F-0A4B0D0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結果要附「傾向清晰度」，不要假裝七題很精密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F372-8452-40F3-908F-863F5959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5C73"/>
                </a:solidFill>
              </a:defRPr>
            </a:pPr>
            <a:r>
              <a:rPr sz="2100" b="1">
                <a:solidFill>
                  <a:srgbClr val="D65C73"/>
                </a:solidFill>
              </a:rPr>
              <a:t>每一軸清晰度 = |該軸分數| ÷ 該軸最大絕對值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60DF3-8132-4C4C-ADD5-206BCB3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清晰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DA576-15A1-4ED0-8001-4E8BC32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5C73"/>
                </a:solidFill>
              </a:defRPr>
            </a:pPr>
            <a:r>
              <a:rPr sz="1650" b="1">
                <a:solidFill>
                  <a:srgbClr val="D65C73"/>
                </a:solidFill>
              </a:rPr>
              <a:t>≥ 0.67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DC6E9-45FC-43BB-B71B-0699FF4D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回答在此軸呈現一致方向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C9FB-C060-4858-B89D-68F60DBC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90841-05C3-4AAD-A20F-69452314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中度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E800A-1923-4A8E-A073-C01E7CE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5C73"/>
                </a:solidFill>
              </a:defRPr>
            </a:pPr>
            <a:r>
              <a:rPr sz="1650" b="1">
                <a:solidFill>
                  <a:srgbClr val="D65C73"/>
                </a:solidFill>
              </a:rPr>
              <a:t>0.34–0.66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65B6-AAA4-42EE-B674-614933AF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0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有偏好，但不同情境可能改變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55DAB-4107-4362-AABA-530D4E73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FA10F-EF66-45E7-A1F4-92993F1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2F7D"/>
                </a:solidFill>
              </a:defRPr>
            </a:pPr>
            <a:r>
              <a:rPr sz="1800" b="1">
                <a:solidFill>
                  <a:srgbClr val="FF2F7D"/>
                </a:solidFill>
              </a:rPr>
              <a:t>邊界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6ECEA-8CC3-496D-8E8C-98839463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5C73"/>
                </a:solidFill>
              </a:defRPr>
            </a:pPr>
            <a:r>
              <a:rPr sz="1650" b="1">
                <a:solidFill>
                  <a:srgbClr val="D65C73"/>
                </a:solidFill>
              </a:rPr>
              <a:t>&lt; 0.34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7B874-8A27-4330-83FA-DADB4EC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接近中間；結果只作為目前傾向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421AA-9226-4DA1-B1AA-50745C52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8AAFA-3DAA-4BDE-A6F9-9E60B1D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J/P 只有一題，無論答案為何都應標註「低證據量」。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118C0-0AFF-44D2-8014-0A93ECD7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4FE1CF-A378-4289-8E0E-286656C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97607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846D6-AD48-4CAD-AC5B-929B15B0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07 / BIAS &amp;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13B7C-BA2F-483F-8C78-AEBE7BF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零平手解決了運算問題，還沒有解決測量偏差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68E64-D666-4A0E-9C1D-8248B0E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64C2B-B2A5-477E-8290-55E01EDE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已知偏差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84990-256B-4C88-AF46-DDF73C2F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模糊選項多數弱導向 E、S、T、J；J/P 單題形成 2:1 分流。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4561-3889-42D7-8662-538E0BD9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4AE37-E329-48AF-A7D5-7253259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第一版處理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1BD99-4075-446F-A988-0DF53B0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保留原分數，但顯示各軸清晰度並保存完整原始答案。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B1707-2B8F-4C0B-AA6A-8329E09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EDDEF-AA3C-424B-AD90-2B479D35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校準門檻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F4A7C-DF76-485C-8921-FC94E23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累積 300–500 份有效完成資料後，檢查題目與動物分布。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0E8AC-7099-4638-A967-87C710E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2F5FA-196E-4EC9-B728-78339695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版本治理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87714-9AD8-4BB5-A816-B627EEB0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所有結果保存 quiz_version；調整權重不覆寫既有結果。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A1CE2-28BF-4FCD-85D7-AACA62F0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成功標準：完成率、作答時間、選項分布、類型集中度、結果認同率。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DF624-6E0B-4A3C-9E43-5A70F2E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1C4D5-7216-4CEC-AAEE-4B3BA6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28858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AD8DAD-284D-4E61-8F3A-C44DB80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08 / 16-TYPE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19220-E987-4DF5-BCE6-B4848222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四個字母只負責分流；動物負責讓結果被記住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4A1CC-8095-4FC1-B8FC-9BA05203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ISTJ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09C2D-901E-4FA9-B65F-15BE6146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09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河狸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A0AC4-B7B1-482C-A3C6-65793C95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系統築巢者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82877-0F7D-4D1D-929E-76F5D1A8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4FAF8-4CEC-4357-8634-643AAD78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ISFJ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85943-AD72-470D-B45E-BC2A6BB0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企鵝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9F4B6-87A7-4C7E-99FA-C176DCDB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溫柔守序者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33EFC-430C-47BA-8A9A-4321084F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955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55C14-CA48-4188-BB2E-64D25FDA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INFJ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D29EC-73C6-4DD6-AE86-8E626D6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大象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4C663-F560-484B-BC52-4343F18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長線洞察者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43282-E22D-411C-AFAE-6316747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955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F7B26-0031-4E19-9D69-2481D8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INTJ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C1B3D-177A-45D9-B389-2308EA24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貓頭鷹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F0581-219D-49DB-8ADB-784C827C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策略建築師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B5C15-DE65-49AA-98B3-7EC7E45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C5A35E-B1E0-48A2-8F23-A189D84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ISTP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3E205-1C9F-4950-BF8F-C940F3C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9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177D6-20E9-4C7C-AB63-72A874A4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工具拆解者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C232D-8E58-4FEB-977A-F75D1958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CA46F-9513-4614-A06A-E6A3D80E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ISFP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A0025-1765-461D-9ABD-83A6005C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小熊貓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D01AB-B0F6-4D3A-A6F8-6044EE8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52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體驗守護者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12B79B-370D-4DBD-AAEA-A0C02667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A19AC-5460-42A7-BFA8-25170DBD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INFP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F314D-49B3-4932-A52A-DD57A1CC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6258B-FFA7-4A05-ABD2-E6247443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52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價值守望者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5FE30-8C81-43FA-A37E-C635F23A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2C074-1BA3-41AF-A3B0-4647D54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98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INTP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5B2BC1-0BA5-468B-9AB7-D487E5A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098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章魚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C5A9B-7869-4F04-B5FB-4F84516F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52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模型探索者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BE520E-36E0-4FEB-BCDB-885C5750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956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26899-CB2A-47D2-9306-32823645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ESTP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94CB61-3828-45C0-A209-305156C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獵豹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8E2711-5D95-4368-8E86-AEB1AA95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即時行動者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BB1E5-925D-4462-9C77-DDD408D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F5A34A-A8C9-4B48-B24B-74D79A54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ESFP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E35903-7390-4B12-AC16-5D6DD55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鸚鵡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105628-B319-4332-BCC9-7A1528E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體驗帶動者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F0DFF2-2817-4760-A307-30C5A73F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958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A72297-3B61-40BC-8935-F0AF8BE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ENFP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EFAC10-8370-41B3-9679-37C5A5AA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水獺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5D4784-A0B9-4807-9A83-51C3AED8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機會連結者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9A19B8-E30A-4E63-80A8-6C53281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2DE8A3-6EBA-4F50-B5A8-BC0C6195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100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ENTP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F789C0-7917-47BD-B764-3FFD5DC7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100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烏鴉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23C980-1EDE-475E-8243-E6CE965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529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創意破框者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6B5198-DFF1-4EC7-B877-4FF9C9C4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9580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5764C3-7BE7-4848-BBBC-7EF2952D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ESTJ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E493A0-562E-4543-A691-7AAD853B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10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牧羊犬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1C571D-A735-445C-8A4F-9C96454A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落地推進者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3CC4D1-9772-4D95-B4F2-EB9B615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A35B74-84C7-4DAC-BDC9-61F6AB88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ESFJ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43821E-C431-441E-97C7-C293B998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蜜蜂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ED2C4B-FA87-4686-91E9-0CE8C03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53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協作織網者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7C18EC-D6D8-4B26-BADD-08948012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959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A3A66E-4153-494D-9C4B-F1FD569C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01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ENFJ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5A8C42-D6C2-4D1C-A5FC-D92316D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10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海豚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66E95-CA9B-461F-A17B-129C7D4F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53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轉型引導者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217AFE-7C81-4D6F-93BA-A54EF62D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959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65B53A-C117-4FAE-B9A6-E4B6933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012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5C73"/>
                </a:solidFill>
              </a:defRPr>
            </a:pPr>
            <a:r>
              <a:rPr sz="1575" b="1">
                <a:solidFill>
                  <a:srgbClr val="D65C73"/>
                </a:solidFill>
              </a:rPr>
              <a:t>ENTJ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7C499D-CC06-4B0D-8699-F953A93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01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8"/>
                </a:solidFill>
              </a:defRPr>
            </a:pPr>
            <a:r>
              <a:rPr sz="1500" b="1">
                <a:solidFill>
                  <a:srgbClr val="222228"/>
                </a:solidFill>
              </a:rPr>
              <a:t>虎鯨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1C0298-C52F-45CB-8E37-CC427437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53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目標整合者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434819-17F1-4FE3-8BDF-122CB3AF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9592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A93C6D-FCB7-4A22-9448-FE20D01F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動物不參與計分，也不形成高低階級。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A2FA3D-250A-4EB5-9D5F-65BF1E2B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ANIMAL MAP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665CA5-6813-432A-902C-27D3993B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732591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5B7B9-10A2-44B7-BC1A-B54B2BC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09 / RESULT EDITORIAL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89DAA-EE32-461D-AC12-ACCB48FD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每個結果像一期雜誌，不像一張成績單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9D6CE-8E97-4402-9016-FB00F4F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2F7D"/>
                </a:solidFill>
              </a:defRPr>
            </a:pPr>
            <a:r>
              <a:rPr sz="1500" b="1">
                <a:solidFill>
                  <a:srgbClr val="FF2F7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869F5-A972-4EAC-A9A5-42348FF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66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封面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6BFF6-6ABC-4373-90D8-D7F6DA2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動物＋稱號＋一句人格摘要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33631-B181-4E04-AE85-7900BAC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89E66-2292-435E-BF27-888450D4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2F7D"/>
                </a:solidFill>
              </a:defRPr>
            </a:pPr>
            <a:r>
              <a:rPr sz="1500" b="1">
                <a:solidFill>
                  <a:srgbClr val="FF2F7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9475E-D5D2-4DE7-978E-FD049485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AI 優勢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A4459-19E3-4F33-83DA-993177E0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使用者最自然的協作方式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FF1CD-9B5F-4A97-B4BB-30CC19B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3CFC2-B58F-4102-B983-C6433FC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2F7D"/>
                </a:solidFill>
              </a:defRPr>
            </a:pPr>
            <a:r>
              <a:rPr sz="1500" b="1">
                <a:solidFill>
                  <a:srgbClr val="FF2F7D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5D4DD-8B18-42C1-A3F4-3E2B52F4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成長提醒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8F8C2-A8D6-44BE-B13A-623739D1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528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一個具體盲點，不製造羞恥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CC818-70D2-458C-A1BE-6FB73B1E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AA0DD-C9BE-41A5-96E6-D188A64B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2F7D"/>
                </a:solidFill>
              </a:defRPr>
            </a:pPr>
            <a:r>
              <a:rPr sz="1500" b="1">
                <a:solidFill>
                  <a:srgbClr val="FF2F7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09DC7-D255-4606-86C0-40E8DFE0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459FF-E339-47D9-AD2C-41323ED8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今天就能完成的一個行動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64258-9602-4C37-8EB0-5D33FF43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B5EC6-4623-46F7-8F62-19584088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2C"/>
                </a:solidFill>
              </a:defRPr>
            </a:pPr>
            <a:r>
              <a:rPr sz="1500" b="1">
                <a:solidFill>
                  <a:srgbClr val="B8FF2C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DE1FF7-A667-4E4E-83C3-94EF597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傾向清晰度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8EAD6-A684-47A4-AEE1-E8AD1BE2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387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8CE"/>
                </a:solidFill>
              </a:defRPr>
            </a:pPr>
            <a:r>
              <a:rPr sz="1350" b="0">
                <a:solidFill>
                  <a:srgbClr val="C8C8CE"/>
                </a:solidFill>
              </a:rPr>
              <a:t>四軸分開呈現，不顯示能力排名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A8C21-EE40-4DF8-ADDD-6531682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959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A4F7C4-23C4-49C0-81EB-8402B1DF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RESULT PAGE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BF70F-4AD0-4C53-8FD2-4789696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0111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30002-0814-4677-AAF2-02DC0B3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10 / USER &amp;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5566-881F-40C2-BAFA-612A6D24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結果確認後才綁定，朋友完成後才建立連結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91008-C2ED-4041-A5CB-E129BBD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CC7D7-3D22-4C4E-A85F-2A36FE5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9D369-A0D2-4D4F-BB3E-53D4851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LINE／分享入口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76169-3F32-49D4-BF46-0B5D5653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5D6BD-BDFF-439B-8111-B29968EB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02A59-FB8E-480F-B749-2C58CD6E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七題作答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9259C-653A-427B-9795-9CF8303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3607D-D811-4AD1-80F2-872AA8B2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1B12B-6D5E-468D-A1A9-13086F88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封面揭曉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31F56-EE1E-4D01-81EA-500EC2A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8"/>
                </a:solidFill>
              </a:defRPr>
            </a:pPr>
            <a:r>
              <a:rPr sz="1800" b="1">
                <a:solidFill>
                  <a:srgbClr val="22222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345A1-20C5-4EFF-8A92-60A42EF3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ECBAF-391A-44E6-BB16-09FA8F8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確認結果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39704-F304-495B-9144-162943C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2F7D"/>
                </a:solidFill>
              </a:defRPr>
            </a:pPr>
            <a:r>
              <a:rPr sz="1800" b="1">
                <a:solidFill>
                  <a:srgbClr val="FF2F7D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D9A6D-4B41-424F-A244-3218A21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FAC9D-B5BD-4B0E-97E2-AFB2C01A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綁定 LINE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91A40-A1E3-45BF-8B81-D5E9784E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2F7D"/>
                </a:solidFill>
              </a:defRPr>
            </a:pPr>
            <a:r>
              <a:rPr sz="1800" b="1">
                <a:solidFill>
                  <a:srgbClr val="FF2F7D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A6D3B-16DD-4069-A3DD-1658DD4D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DF87E-A662-4FB0-8112-32B130C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邀請 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6EC5F-060E-4A88-9400-2419AE4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098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2F7D"/>
                </a:solidFill>
              </a:defRPr>
            </a:pPr>
            <a:r>
              <a:rPr sz="1800" b="1">
                <a:solidFill>
                  <a:srgbClr val="FF2F7D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393A2-8477-46C8-99A0-84929B1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8D604B-C333-4DEB-9DA9-BBD64083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146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2228"/>
                </a:solidFill>
              </a:defRPr>
            </a:pPr>
            <a:r>
              <a:rPr sz="1275" b="1">
                <a:solidFill>
                  <a:srgbClr val="222228"/>
                </a:solidFill>
              </a:rPr>
              <a:t>朋友完成後連結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F8F713-62C0-466D-81B9-3DF5D9E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C43B3-AA6A-4735-8E65-7A08C2A5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避免重測迴圈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9D90C-A426-4FC5-9729-257BFF5C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確認後鎖定 90 天；需要更新時建立新版本，不覆蓋舊結果。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69AE0-6822-4DE6-B15E-C2A28FBC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67969-8039-4744-A1F4-14160AE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朋友圈不是通訊錄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A3667-7F76-4D6C-9AD9-63FAFC3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只有朋友打開、登入、完成並確認後，才出現在彼此的人格圖鑑。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9E3871-4E1A-49DB-B68C-06A0F713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LIFF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C42137-FE3D-4121-843E-3BA5E34E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532159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10077-8911-42BE-A94B-EA56B1A3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11 / MVP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2E94E-0C83-4E96-A40C-071C24EC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先驗證七題與兩張結果，再擴到完整社交玩法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9D81D-38B4-4830-B566-2C27E61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2F7D"/>
                </a:solidFill>
              </a:defRPr>
            </a:pPr>
            <a:r>
              <a:rPr sz="3150" b="1">
                <a:solidFill>
                  <a:srgbClr val="FF2F7D"/>
                </a:solidFill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64B78-8B9F-430B-BF63-DF87787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內容鎖定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45344-283D-4976-8890-A90481D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E"/>
                </a:solidFill>
              </a:defRPr>
            </a:pPr>
            <a:r>
              <a:rPr sz="1275" b="0">
                <a:solidFill>
                  <a:srgbClr val="C8C8CE"/>
                </a:solidFill>
              </a:rPr>
              <a:t>七題雙語、option_id、權重、16型文案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9DD86-5F7F-4371-9CA1-87C752F5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719B0-1E94-4A71-BF02-1FFD589A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8FF2C"/>
                </a:solidFill>
              </a:defRPr>
            </a:pPr>
            <a:r>
              <a:rPr sz="3150" b="1">
                <a:solidFill>
                  <a:srgbClr val="B8FF2C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5F4C1-B1B1-44B4-88F8-F4BBED6E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體驗驗證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7AA64-4AA1-4F45-BA0F-898BE2A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E"/>
                </a:solidFill>
              </a:defRPr>
            </a:pPr>
            <a:r>
              <a:rPr sz="1275" b="0">
                <a:solidFill>
                  <a:srgbClr val="C8C8CE"/>
                </a:solidFill>
              </a:rPr>
              <a:t>水獺與鹿結果頁、手機真人測試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DAB9B-A47B-4374-A3E0-9464372B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815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75017-8788-40A0-90F7-25E4A66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2F7D"/>
                </a:solidFill>
              </a:defRPr>
            </a:pPr>
            <a:r>
              <a:rPr sz="3150" b="1">
                <a:solidFill>
                  <a:srgbClr val="FF2F7D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E89F6-0589-4ED1-B894-AA3D5CB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57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完整上線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AE0DE-5F54-4E01-ABF8-70BB09A1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E"/>
                </a:solidFill>
              </a:defRPr>
            </a:pPr>
            <a:r>
              <a:rPr sz="1275" b="0">
                <a:solidFill>
                  <a:srgbClr val="C8C8CE"/>
                </a:solidFill>
              </a:rPr>
              <a:t>16種結果、分享、pending 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35FC7-EABF-49BC-81DD-F49911B2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E396A-B213-48ED-9758-34DE7A95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下面 16 頁定義每一種動物的正式內容骨架。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6E40C-0D5C-48FC-AB51-DFAF2C93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D7EB9-A495-4566-8910-0AB91970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46039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A3486-B2B2-40C2-BAF2-2FE4FD4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ISTJ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414d686964f71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5E589-8EE2-4986-931A-8F1A129A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ISTJ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896EE-8AE1-483C-93B6-462B3461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河狸｜系統築巢者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0153C-EAAE-40A3-B08A-51B9AC1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穩健築系統，先驗證再擴張，讓改變可靠落地。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58A8E-1032-42B2-9EA0-7DC768B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E6AD6-260E-4EFE-B4A2-252C8A7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7EA9E-7E5D-4B09-A446-1D2D0E2A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像河狸築壩，把零散材料整理成能長期運作的結構。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EE19D-BD14-48F4-9016-96F4CEA5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5B99D-109E-4FC2-9B6F-0A074B98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把混亂變成可靠系統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8BEA0-8E79-480C-A406-245D829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36F0B-1DE3-4043-B810-52D112D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可能太晚才接受新工具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D0455-8876-4EA8-9C97-AFEA7216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3A0DD-1CA1-4C19-80F8-D3E1AA7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用低風險試點替代一次到位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A2D5D-18E5-4FF7-BE32-01A00718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25D2D-CF4D-4DCD-942D-7DE5DA4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流程標準化、知識庫、品質檢查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64E38-2B81-41AB-A7A7-BEFC597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B7C8A-2329-437D-AA8F-DFEF529F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196560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799E9-71B1-42DB-971E-35DFB8DE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ISFJ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3c7c627f8487a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3E04F-607B-44CD-9152-3FB5CDCA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ISFJ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860F6-E96C-4450-A671-8BA0D48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企鵝｜溫柔守序者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EFA13-C7E4-479E-ACEB-130A9F56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細心守住品質與人，讓新工具被安心地使用。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0A56-3CE0-4397-B9A8-3CD881AF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F99DC-286B-4B17-9F6C-37D0666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D2576-5950-4D3E-AD3F-32EF79D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像企鵝在嚴苛環境彼此守護，默默維持團隊的穩定。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6F5B0-35CB-40E1-A560-5293884A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30262-05D9-4242-80AC-913AE3A8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穩定照顧團隊與品質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1E987-132F-4CC6-825A-03292C6A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33F9B-E352-4EEC-AF37-7B108F8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可能默默承擔過多轉型成本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45732-E097-46AA-9124-54727533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63814-A0E8-44E5-840E-FBD0A18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把照顧化成可複製流程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E608F-4675-4798-B5AA-6DC17C22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1991D-E08F-4AAE-99E3-972E10B8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客服流程、內部採用、風險提醒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45C76-E7AF-41E9-954C-7FAC0EA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EA172-4985-4631-BCE3-76513EB4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97794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C049F-543D-45A3-96E3-84B019E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INFJ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1adf642574131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9788B-4A4F-4949-BE41-C3A45330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INFJ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1E7A-063B-4DF9-B65D-FBFDC337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大象｜長線洞察者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355A9-1772-4949-98A0-1F449B24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用長期眼光理解改變，也替技術守住人的位置。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4D6D-0224-4859-A0B1-882C0234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B9403-8970-4720-8965-536E0F4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50095-CFF2-4809-8829-F909B838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像大象記得路徑也照顧族群，能同時看見未來與人的感受。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2664-BFA6-4E77-BF58-B4EA6040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CE546-1CE1-4A62-88A3-9C980C53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看見長期影響與人的需求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A0BD8-359B-459C-A6FA-B902D110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A7C0C-DCC3-4057-A837-41985B5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可能為理想等待完美時機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5F9C7-2A70-40B1-ADDD-7860A21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8B7F8-8679-4E58-AB51-180E3644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用小型原型驗證願景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357CD3-8AC7-4CE5-BE10-DFB8830B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37EB6-55D9-401D-AE87-FB2CF2D4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轉型敘事、倫理檢查、使用者洞察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053CD-FF53-4181-90EF-99DD0B37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CE7ED-A3AB-4308-B86B-748E1319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548479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B43F8-9970-437F-9D09-C5BA906A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INTJ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c2b2499d94132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499B0-9406-4970-B57A-BC94B884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INTJ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7FDA-82CF-4FFD-938B-91D0CD9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貓頭鷹｜策略建築師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DA21A-170E-4B8C-A55D-90C0344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先看全局再設架構，讓 AI 成為長期策略的一部分。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11831-229B-4A29-AE19-239F356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1F7BA-218B-4874-BBE1-42B69C2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DB4B7-9471-4410-868E-B52874E9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像貓頭鷹在黑暗中辨認輪廓，擅長從雜訊看出長期結構。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2A88-A6C8-4F79-8B2C-B6E63D5F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BA165-CC68-472E-BCB8-6337074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設計長期策略與架構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DA419-6F46-457B-8C55-88D46172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ED65A-F3E5-4CFC-AFE1-5023135D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可能低估導入所需共識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E83E7-86AA-4F4F-9B7C-86BE9445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1BE8-2072-4735-A87E-E934ED98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讓利害關係人提早參與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2F015-267E-4BAB-B6C8-4CBAFC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F7F12-5BBA-473F-B51B-ACBF742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AI藍圖、系統架構、投資優先序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65212-01AA-4F9C-80AA-6E6A9D4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3080D-889C-4A32-96B3-B05ADDB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01611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40A2A-3737-42F7-AC2D-8199F772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ISTP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c200ce51349eb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AEFE9-75FC-4C54-AC5A-D2DC129C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ISTP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3B8A9-CF95-40F8-82EA-1D002A86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貓｜工具拆解者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EF3FF-C479-459B-A252-425AB01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快速拆解問題，以實作找到最短、最有效的解法。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17971-E65E-4501-B629-2C7B5606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1FCAC-76D3-4B65-81AC-2659780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503DA-A983-487C-A242-5DAB34FA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像貓獨立、敏捷又善於試探，會親手確認工具到底能不能用。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5E26C-4264-4656-B311-953E6200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211B0-67D1-4407-B9CC-77F734B7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快速拆解工具與實際問題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7246F-DC92-4B6E-825C-8BE5833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FCBD3-8E5A-4ABB-BBC3-3160A5F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可能略過溝通與文件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37443-CE93-4116-8457-421212D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C742D-7937-4FFB-A981-073C4EDE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把有效解法留下可重用紀錄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F8A8F-EA0B-48A1-9A94-F050D483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22C79-EAA4-4262-A0E5-BEBA1F99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工具評測、故障排除、自動化原型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F1F00-4830-46AE-8D9B-02412EA4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8CAFC-1552-4EA6-A2E7-FC051B76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72896374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BAF23-940D-495D-B845-2946D7F4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ISFP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114f43554eab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5971B-6C52-40BB-AB24-360D0F75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ISFP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414FE-D5C7-46CD-9BBF-F92BDFD7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小熊貓｜體驗守護者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A80C5-BD0E-44F4-B59E-B5B3B1A6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守住美感、感受與價值，讓 AI 不只有效也好用。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FD54C-4F5E-4ACA-952F-D6316D5C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81BEA-7481-4E14-90B7-A026DA65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385E7-3B1B-46F8-9705-013C882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像小熊貓敏銳而有自己的節奏，會察覺細小但重要的體驗差異。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EBC33-E251-46A5-A13A-5B9CBA5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241AF-A6FE-408F-812D-68E8ABD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敏銳察覺體驗與價值衝突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A4E6E-741B-4C57-BBF0-02FF2DF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2F8AC-2770-456B-AED4-47769B0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可能避開過度制度化改變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C58C1-9F3C-4EEB-9478-CDF7B0B0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62270-4972-4C67-BDF1-3AF3E2F2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為創作建立最小安全框架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C06C1-8799-4EE2-9179-69AA323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FC4E0-21D5-404A-BE5F-895EA8CD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內容美感、服務體驗、品牌調性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B176A-0EC5-4AB4-86AD-77EBE692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0BC78-6BEF-4B32-BCB0-A56A4AF8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300227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D200C-885C-4093-A63A-39ACFE9E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INFP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19c56a91243bb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CAAB7-7AA9-4195-8B39-0EC36B25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INFP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837AB-4C15-4C9B-9B3E-79E14CB2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鹿｜價值守望者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5718B-EB16-4610-85FD-1479FB45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替技術保留意義與善意，讓創新不忘為何出發。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39580-540E-461D-A397-49B4C5A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1FF34-7312-42E6-B242-F095F435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B78B8-7A68-410C-863B-B8F69BA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像鹿溫柔又警覺，會先確認一項改變是否符合內心相信的方向。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6DFA1-4B7D-421C-AD43-CF698E4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28EBD-2E13-498A-9BC8-9CCAE764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守住意義、倫理與人的可能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C9890-BD9F-4570-B70F-017EFAE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C241A-E173-4572-B1B9-B2326D99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可能在選項太多時延遲決定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3AB65-BAAB-4DCC-972F-58F08B94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1AF18-AE8A-4324-83FC-35EC6F4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設定期限並完成一次可逆實驗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9A802-8930-42D1-A8E7-9A12194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08F7C-44AB-4C4E-84D5-D4C2DA13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品牌價值、內容概念、倫理敘事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836B4-A4AC-4AC1-A034-6EF4B1BD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CFC5A-4FF4-48EF-B35C-B78F9B59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592659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CC082-BBD3-4987-A4C6-18224D8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INTP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537ea9d1d4cf6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BA17A-8AA5-4DB3-8A09-604436F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INTP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4DFF2-A7ED-4041-80BA-92DBC0F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章魚｜模型探索者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BA614-0096-40A8-AC79-42668D6E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用好奇心拆解規則，替複雜問題建立新的解釋。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32E18-E738-4774-BB2E-5E897790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2A8E2-D623-4441-A748-40C44065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5D26F-8287-42AE-A246-F04B1ACC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像章魚用多條腕足同時探索，擅長建立模型並比較不同路徑。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D725D-8B73-4636-8561-F540BE78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2192F-D982-4B8B-A461-EEC074F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建立模型並探索多條解法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923AE-7F72-4F34-8EB1-9FC98B9F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554FF-403C-4FBF-A278-97493E2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可能一直研究而未交付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13FF1-7D88-45D1-A3C4-5F0B62A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AA000-07BD-4448-88EE-32C914B9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先交一個能被使用者否定的版本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78E27-498E-45B8-9AC2-3F7D9FF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F9164-E215-4701-98E2-E0D4774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研究分析、提示工程、知識架構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3874F-2381-457B-A0A7-39A7A684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2BF62-BDAC-4305-8EA6-67E1781F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521323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08622-CF16-4BCB-83D9-53151C9B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ESTP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af6180369448a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19098-F5AB-408F-B5E9-2E56E727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ESTP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B3150-BD45-4517-B2F7-59831C9F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獵豹｜即時行動者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49D2D-121B-4530-9DFB-188D06A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在變動中搶先行動，用真實結果判斷下一步。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B4B36-E371-4E30-9F5E-8512530B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7890E-C008-4A7F-9F0F-061B1F4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6D62C-C76B-4E70-B62B-302AD216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像獵豹先鎖定目標再高速出擊，靠現場回饋快速修正。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F2FC4-F3BE-455D-98B0-9110C281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690FF-FBA0-45F2-B593-467D1245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在變動中快速行動與修正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0EA50-4083-4050-9263-A68B5091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B7748-B1B2-4112-9D5D-71017FD7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可能低估驗證和治理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BF9F4-8D4A-4C37-A165-859C3FF0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E957-8790-4726-B9E2-1303A44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在速度流程中加入必要檢查點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5D1A3-ABEE-4372-8C4B-81D25BBE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316BA-D6D5-4657-918D-1A97B70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快速試點、現場解題、成效驗證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C9520-DE4A-4383-9927-8D4BC44C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64AFF-748F-41E5-960D-B699EC5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288421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3C277-A896-46AD-890E-097010A5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ESFP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fd6b008d44b2a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0F69D-11F7-46EE-9BBB-B10DCC1B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ESFP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53DE3-9232-4055-B960-804CF20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鸚鵡｜體驗帶動者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F9896-7873-4F53-9826-227F1D13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把 AI 變成人人想參與的體驗，點燃團隊採用動能。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7656F-7F9C-4943-B4B6-281E1C3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05899-75F4-41E5-ABC8-315DD389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010EA-4D82-402A-91BC-93A674DF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像鸚鵡善於互動與表達，能讓陌生的新工具快速變得有趣。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5160E-E2D8-40BB-BF8B-A4D1274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8F489-2C25-4266-8041-64B1CC12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帶動參與並讓新工具容易接近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801F8-5E11-49E2-97BE-828169A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86540-C48E-4217-BD11-0F369CFA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可能追逐新鮮感而缺乏沉澱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59B64-098D-4E05-B1C0-8FE3B01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EDE46-869C-4D19-92FF-F33CA0F2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每次實驗都留下成果與學習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32C2A-7840-4B55-9B26-E5428540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CB2BA-0645-43EE-BA4D-78D5A68B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活動體驗、社群內容、內部推廣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745C3-BC3C-4290-8285-3F4B900C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6B423-AB38-4600-B1D3-12137E7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171367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AED46-AF3F-4520-AE8E-D560FCB3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ENFP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4fac215fa4259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C6B4B-788D-49E8-86EB-B61F990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ENFP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33463-3ADF-4F99-9C25-DEB3FEA9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水獺｜機會連結者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29488-E1FB-4AB2-B4DB-5CEB4C77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連結創意、人與新機會，讓想像快速開始流動。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2A945-C0E5-4366-AFB5-AEB73D97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F441A-7D90-43F0-A9B0-044CB49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8F399-2CD9-44C7-85D1-3416AD51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像水獺會玩也會使用工具，擅長把人、點子與資源接起來。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0A0BA-0745-4732-8766-8022916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5B623-715C-4A4B-A775-6E591B5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連結創意、人與新機會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D94B2-F10E-4B7D-B999-EE36304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C5A30-A533-4F9D-958F-3465CBF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可能同時展開太多方向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CC96F-5626-4E5C-A0B1-5658842C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C3446-CA8D-46C7-AA99-A4D4B1D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用一項衡量標準選出下一步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A0620-982B-4BC0-B821-AD8E19E3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04598-4F73-4D7C-811B-E3475676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創意發想、跨域合作、社群共創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DA127-AF17-4160-9227-2799DEC2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BD705-4DB4-401B-8232-DA2A1EB2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619482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4C682-E7BE-4013-BB3C-B79AA7DA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ENTP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c75c9f0ab49be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AADA6-F58C-45E6-A21E-6E24744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ENTP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139F4-117B-4F85-AEFD-B359061E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烏鴉｜創意破框者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339B3-6C13-4CB3-8435-1063925E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拆掉舊假設再重新組合，替 AI 找到意外的新用途。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0ECDD-BD02-4A3E-8F9A-C06B982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6A26B-EA5C-43BE-8E6D-94BC317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CBCB0-729D-4590-8EC9-71E2205F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像烏鴉會觀察、試驗甚至自製工具，喜歡挑戰既定用法。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7041D-F6D7-437C-8917-6168289F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589BF-8BDB-4052-A038-A617E43C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挑戰假設並組合新解法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749F3-B87F-4FC7-A318-21CC6DA2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D89D2-C8F0-4D6C-8838-0D411D7C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可能頻繁換題而未完成落地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5F6B6-5629-4035-BFE5-A7CA5E9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A81FB-E423-496F-9398-EBE35381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替探索設定停止條件與交付點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E7A53-B178-43F8-A739-E654578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8E9A2-79E7-4F68-948F-A11516B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概念創新、商模實驗、問題重構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4069C-B7A4-4652-A5DF-6F968078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33C46-311C-422D-A19C-BCBD55D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9348174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F519E-F1EC-45DA-B42D-0ABC72B2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ESTJ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bde9e80b648ce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A58F8-4D9F-42BA-A2D8-B9E9BA40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ESTJ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4EEA-9A3B-49A4-A272-2C09B88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牧羊犬｜落地推進者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BDEE1-B2C2-4D5C-AB72-F56A968B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整合資源、訂出標準，讓 AI 從試驗走向規模化。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E43B6-383F-4A6B-B505-6903D951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91221-1F55-4054-8BF0-F12E3D61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F1DDA-8173-473A-B890-9ED5857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像牧羊犬掌握方向與節奏，能把分散的人力帶向共同目標。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19E8-C4BA-4DDE-A864-D6F8B265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B08A0-F7E0-49D6-B30C-23B37E02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組織資源並推動規模化落地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E9839-3945-406E-B19D-5BDA1A2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9675B-AE5D-4487-B883-FF801C1D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可能太快把試驗變成規則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1B158-0A1E-459C-895F-622C124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5F1AA-A99D-4006-88C0-2F436C0C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先聽取例外再標準化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BD211-DB41-4377-AB82-2B76B94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99935-7891-4861-869E-2287498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專案治理、流程導入、營運規模化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80A0A-A063-4759-9EA7-584832A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366F6-A66E-4BE5-86E2-B9C9AFFB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314591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BB041-AE8F-4E96-9FB5-E0CA5B50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ESFJ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cb9a0cdbb40dd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2074F-F7F2-4D8A-B499-740D1D49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ESFJ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3218A-015D-41C9-A32B-F9AE2E05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蜜蜂｜協作織網者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80CAF-DEA1-47AA-A138-682CE1A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把關係化成合作網絡，讓新工具被更多人真正採用。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C6450-9767-4265-B999-F5FDEBE1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74000-1BFF-4DC9-9CDA-19EFB538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A1397-04F4-4996-8FDD-07C57E6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像蜜蜂透過分工與訊號形成網絡，讓群體一起完成大任務。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E4FCF-E06B-4068-935B-D17738E1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120ED-2123-42A6-BD32-C2E1D262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建立協作網絡與採用動能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BBE9B-65B6-49A0-8DBD-C7E7E6BE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E45C6-FB13-4304-83D2-4C670FB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可能為共識犧牲必要質疑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6BE1B-7290-4A13-A324-92E28E5D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24D9D-F874-417C-B2E4-C2CC713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指定一位反方檢查風險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DC604-3B8B-40ED-BEE9-4F48CFAE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4DC13-10B2-4687-8AC9-1D5C32C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社群營運、協作流程、教育推廣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735A2-7887-4264-B356-BAF2DCEF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A9DEA-3135-4DEF-8A52-5F22CA3D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531550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3F906-4A29-4FA9-A162-09E4508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ENFJ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c99f2330d4716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FF58E-BC44-4AA3-ADCE-8C8E1B9F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ENFJ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C8DA1-F3D1-4086-87A0-03793C62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海豚｜轉型引導者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1229E-47DD-448D-BE01-2B4EE380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看見人的潛力，用對話帶領團隊共同完成轉型。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3D95C-61D4-46CF-BC3A-2D48A82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4AF55-EDDA-484D-9F13-8B96596A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EB2A5-2ED0-405F-9CA4-986E7A8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像海豚善於溝通與帶領，能讓群體在改變中保持方向感。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465E7-376D-4CE5-BDF2-AD615E20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E8B92-DCAA-4385-9987-A9D058B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帶領他人理解並共同轉型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84DD7-604F-4D42-93E4-C2AF8A0D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86ECC-7830-4553-9AB8-0BA89CA3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可能替別人承擔成長責任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95C9D-EDF5-4CAE-8556-87618210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C932D-1A6E-47D8-BBEB-FA04F1AD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把支持轉為對方可自主能力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405E3-733B-4F0C-B9B9-23DD746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8FFB2-AA8E-41DB-BB14-F48EC998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人才培育、變革溝通、共識工作坊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F6FE8-92A1-44DB-9321-E071B4A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AB2B3-CCAE-4638-9760-A42D69F1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3501058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B1CDB-9FAA-4B1E-AF1F-5FFA4BDC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ENTJ / AI PERSONALITY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aa13a7d1f4d00"/>
          <a:stretch xmlns:a="http://schemas.openxmlformats.org/drawingml/2006/main"/>
        </p:blipFill>
        <p:spPr>
          <a:xfrm xmlns:a="http://schemas.openxmlformats.org/drawingml/2006/main">
            <a:off x="495300" y="11239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24D9C-5102-47AA-86F4-15E41549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3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2228"/>
                </a:solidFill>
              </a:defRPr>
            </a:pPr>
            <a:r>
              <a:rPr sz="4350" b="1">
                <a:solidFill>
                  <a:srgbClr val="222228"/>
                </a:solidFill>
              </a:rPr>
              <a:t>ENTJ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D77C0-56B0-4F7D-AC1F-7347C5F3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C73"/>
                </a:solidFill>
              </a:defRPr>
            </a:pPr>
            <a:r>
              <a:rPr sz="2250" b="1">
                <a:solidFill>
                  <a:srgbClr val="D65C73"/>
                </a:solidFill>
              </a:rPr>
              <a:t>虎鯨｜目標整合者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3F86F-C3AE-4DE9-9D23-50EE6DBA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8"/>
                </a:solidFill>
              </a:defRPr>
            </a:pPr>
            <a:r>
              <a:rPr sz="1575" b="1">
                <a:solidFill>
                  <a:srgbClr val="222228"/>
                </a:solidFill>
              </a:rPr>
              <a:t>把人才、技術與目標排成隊形，推動關鍵成果。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0BF19-8D3E-451C-8C9C-D030A2C7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514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A4F53-4523-4347-86E7-0773CDF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動物隱喻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DCEDC-B05C-4F5E-9FC2-FFDDD21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718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F"/>
                </a:solidFill>
              </a:defRPr>
            </a:pPr>
            <a:r>
              <a:rPr sz="1200" b="0">
                <a:solidFill>
                  <a:srgbClr val="77777F"/>
                </a:solidFill>
              </a:rPr>
              <a:t>像虎鯨以高度協作完成大型獵捕，擅長整合資源與明確決策。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528D9-7DE4-4368-B309-11D3ACA3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AI 優勢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2DE62-F528-423E-8A00-6806ACBF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766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整合人才、技術與目標前進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B63CD-C6EB-4C30-B860-FAC46EE9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成長提醒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BEB82-F463-4A1E-BF57-DC317CA6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可能過度壓縮探索和調適時間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78673-1F90-4F40-A728-E5333BAC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成長路線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9C26E-1602-4B96-91FB-EB9545D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決策前保留反證與回饋窗口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02D90-3BFB-4916-856B-4CD50F0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24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5C73"/>
                </a:solidFill>
              </a:defRPr>
            </a:pPr>
            <a:r>
              <a:rPr sz="1200" b="1">
                <a:solidFill>
                  <a:srgbClr val="D65C73"/>
                </a:solidFill>
              </a:rPr>
              <a:t>適合任務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36F9E-5482-42B6-8565-1C120A23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2228"/>
                </a:solidFill>
              </a:defRPr>
            </a:pPr>
            <a:r>
              <a:rPr sz="1350" b="1">
                <a:solidFill>
                  <a:srgbClr val="222228"/>
                </a:solidFill>
              </a:rPr>
              <a:t>轉型決策、資源配置、規模化策略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F2B01-DDBC-4B70-A426-DD1B8937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16 ANIMALS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10E01-C4AD-4E1D-AE7D-43C0EBE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7974266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DFFED-1CB3-4938-B42F-421D155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12 / CONTENT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86F69-38F9-456F-A092-253F164C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16 種動物要有差異，但必須遵守同一套倫理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B646-434F-4B02-A7BE-7875552E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E4510-2F0D-481D-81CA-F465A72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不分高低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B38AE-CE37-4453-8028-CDCBE74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每種動物都有優勢、盲點與成長空間。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9132F-275F-481D-BFA6-CDE089A0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3C714-416B-43A9-9A75-9F7F4181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不做宿命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A8ABE-97D1-4652-87F6-0B0D113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使用「目前傾向」而不是「你天生就是」。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AE8F7-7795-4074-AAB3-471D9051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2E01C-372E-4D28-B757-7F553A20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不靠刻板印象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A93D-F203-4353-A4A1-81E8450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動物特徵要對應行為，不只對應可愛或強弱。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ACE46-5F9B-4A37-A760-AA58880D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42BB7-CCAA-432C-9025-6A17A11C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337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只給一個下一步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3E95E-4DDA-4436-BFE1-2F6F6D6A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19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C8CE"/>
                </a:solidFill>
              </a:defRPr>
            </a:pPr>
            <a:r>
              <a:rPr sz="1200" b="0">
                <a:solidFill>
                  <a:srgbClr val="C8C8CE"/>
                </a:solidFill>
              </a:rPr>
              <a:t>結果頁避免建議過量，讓使用者真的做得到。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90FE9-15B7-4925-839B-29D4DB24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人格誌的價值不是替人貼標籤，而是讓人看見下一種可能。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09D1A-6894-424B-BED9-D3159C00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EDITORIAL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8C852-D990-42D1-879D-836B47E2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8780564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E6E83-1F69-4DBE-AC5B-70B2B948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65C73"/>
                </a:solidFill>
              </a:defRPr>
            </a:pPr>
            <a:r>
              <a:rPr sz="975" b="1">
                <a:solidFill>
                  <a:srgbClr val="D65C73"/>
                </a:solidFill>
              </a:rPr>
              <a:t>13 / DELIVERY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D5CC3-474A-4D0E-BD2C-F3993E9A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2228"/>
                </a:solidFill>
              </a:defRPr>
            </a:pPr>
            <a:r>
              <a:rPr sz="2850" b="1">
                <a:solidFill>
                  <a:srgbClr val="222228"/>
                </a:solidFill>
              </a:rPr>
              <a:t>四個工作包，依序把內容變成可驗證產品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C50C0-1E09-412A-BA77-0AE7E8F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8"/>
                </a:solidFill>
              </a:defRPr>
            </a:pPr>
            <a:r>
              <a:rPr sz="2100" b="1">
                <a:solidFill>
                  <a:srgbClr val="22222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DBCA-2409-4A1F-B2A8-A3F8C09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規格鎖定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9589-4F6A-45BA-B0FB-D5A8EA41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七題、option_id、分數、清晰度、版本欄位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0F0E9-8E14-4E28-A37D-50D1F29E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F3893-2F75-4CE0-A6BB-961C0334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8"/>
                </a:solidFill>
              </a:defRPr>
            </a:pPr>
            <a:r>
              <a:rPr sz="2100" b="1">
                <a:solidFill>
                  <a:srgbClr val="22222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26A98-7B73-484C-B8C0-1E8C0943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內容製作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38333-50BF-483C-A0B0-3F4A5BA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16種中文／英文人格誌與分享短句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FA7D6-B708-49F9-8118-03967A89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A7E8D-66E0-4BF5-B6CB-A8DD0BB0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8"/>
                </a:solidFill>
              </a:defRPr>
            </a:pPr>
            <a:r>
              <a:rPr sz="2100" b="1">
                <a:solidFill>
                  <a:srgbClr val="222228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1041F-83F6-4832-A237-51B5BCAB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前後端整合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0120-EEDC-4817-B1DE-B881DDEC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LIFF流程、結果確認、LINE綁定、pending邀請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23074-5F77-4B21-B05B-5E66AC52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94296-591E-4B46-8660-B355BD9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2F7D"/>
                </a:solidFill>
              </a:defRPr>
            </a:pPr>
            <a:r>
              <a:rPr sz="2100" b="1">
                <a:solidFill>
                  <a:srgbClr val="FF2F7D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668DB-0368-4835-81F8-918F74FA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8"/>
                </a:solidFill>
              </a:defRPr>
            </a:pPr>
            <a:r>
              <a:rPr sz="1650" b="1">
                <a:solidFill>
                  <a:srgbClr val="222228"/>
                </a:solidFill>
              </a:rPr>
              <a:t>真人驗收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15DF7-947D-48CB-8145-2784A23B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F"/>
                </a:solidFill>
              </a:defRPr>
            </a:pPr>
            <a:r>
              <a:rPr sz="1350" b="0">
                <a:solidFill>
                  <a:srgbClr val="77777F"/>
                </a:solidFill>
              </a:rPr>
              <a:t>手機測試、事件去重、分布檢查、文案修正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8E0E5-8672-4BA6-969A-993C795E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5FADD-1272-4FE2-8C04-34B18DAA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5C73"/>
                </a:solidFill>
              </a:defRPr>
            </a:pPr>
            <a:r>
              <a:rPr sz="1800" b="1">
                <a:solidFill>
                  <a:srgbClr val="D65C73"/>
                </a:solidFill>
              </a:rPr>
              <a:t>建議先批准內容與計分，再進入程式修改。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884DD5-5955-410F-AC30-977E2FCE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777F"/>
                </a:solidFill>
              </a:defRPr>
            </a:pPr>
            <a:r>
              <a:rPr sz="825" b="1">
                <a:solidFill>
                  <a:srgbClr val="77777F"/>
                </a:solidFill>
              </a:rPr>
              <a:t>AI PERSONALITY / ROADMAP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572FD-8C5A-4AB0-B0B5-5E54DD4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7777F"/>
                </a:solidFill>
              </a:defRPr>
            </a:pPr>
            <a:r>
              <a:rPr sz="900" b="1">
                <a:solidFill>
                  <a:srgbClr val="77777F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319598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64C0A-2760-4D93-81E1-F99C9005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2F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063F3-CDCE-4CC5-836C-AB889338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2F7D"/>
                </a:solidFill>
              </a:defRPr>
            </a:pPr>
            <a:r>
              <a:rPr sz="975" b="1">
                <a:solidFill>
                  <a:srgbClr val="FF2F7D"/>
                </a:solidFill>
              </a:rPr>
              <a:t>AI PERSONALITY /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2615B-06B0-4410-9DD6-4A1C974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先確認七題，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再出版 16 本人格誌。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900FF-07AA-4B62-BF35-3B958FA5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2F7D"/>
                </a:solidFill>
              </a:defRPr>
            </a:pPr>
            <a:r>
              <a:rPr sz="1350" b="1">
                <a:solidFill>
                  <a:srgbClr val="FF2F7D"/>
                </a:solidFill>
              </a:rPr>
              <a:t>建議決策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050D9-0CEB-4DAE-A030-99B6913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七題與權重鎖定｜選項位置採新版｜16 種動物一型一頁｜結果附四軸清晰度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D31BA-E215-4DF6-B1F7-C5533285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F627D-4938-4DE9-A042-69516DCF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C8CE"/>
                </a:solidFill>
              </a:defRPr>
            </a:pPr>
            <a:r>
              <a:rPr sz="1650" b="0">
                <a:solidFill>
                  <a:srgbClr val="C8C8CE"/>
                </a:solidFill>
              </a:rPr>
              <a:t>下一步：企劃與甲方確認這份內容後，再製作正式中英文 UI 文案與開發規格。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663EC-6948-472B-B39B-8BD7D1A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24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B9BF"/>
                </a:solidFill>
              </a:defRPr>
            </a:pPr>
            <a:r>
              <a:rPr sz="825" b="1">
                <a:solidFill>
                  <a:srgbClr val="B9B9BF"/>
                </a:solidFill>
              </a:rPr>
              <a:t>AI PERSONALITY / 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932C7-0700-43B2-B902-9181743C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B9BF"/>
                </a:solidFill>
              </a:defRPr>
            </a:pPr>
            <a:r>
              <a:rPr sz="900" b="1">
                <a:solidFill>
                  <a:srgbClr val="B9B9BF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43058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2026-08-27T06:46:34.9160000Z</dcterms:created>
  <dcterms:modified xsi:type="dcterms:W3CDTF">2026-08-27T06:46:34.9160000Z</dcterms:modified>
</coreProperties>
</file>